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325" r:id="rId2"/>
    <p:sldId id="371" r:id="rId3"/>
    <p:sldId id="372" r:id="rId4"/>
    <p:sldId id="373" r:id="rId5"/>
    <p:sldId id="396" r:id="rId6"/>
    <p:sldId id="412" r:id="rId7"/>
    <p:sldId id="405" r:id="rId8"/>
    <p:sldId id="418" r:id="rId9"/>
    <p:sldId id="438" r:id="rId10"/>
    <p:sldId id="439" r:id="rId11"/>
    <p:sldId id="440" r:id="rId12"/>
    <p:sldId id="442" r:id="rId13"/>
    <p:sldId id="437" r:id="rId14"/>
    <p:sldId id="416" r:id="rId15"/>
    <p:sldId id="406" r:id="rId16"/>
    <p:sldId id="417" r:id="rId17"/>
    <p:sldId id="407" r:id="rId18"/>
    <p:sldId id="419" r:id="rId19"/>
    <p:sldId id="420" r:id="rId20"/>
    <p:sldId id="409" r:id="rId21"/>
    <p:sldId id="456" r:id="rId22"/>
    <p:sldId id="421" r:id="rId23"/>
    <p:sldId id="424" r:id="rId24"/>
    <p:sldId id="422" r:id="rId25"/>
    <p:sldId id="444" r:id="rId26"/>
    <p:sldId id="447" r:id="rId27"/>
    <p:sldId id="430" r:id="rId28"/>
    <p:sldId id="432" r:id="rId29"/>
    <p:sldId id="449" r:id="rId30"/>
    <p:sldId id="452" r:id="rId31"/>
    <p:sldId id="450" r:id="rId32"/>
    <p:sldId id="448" r:id="rId33"/>
    <p:sldId id="455" r:id="rId34"/>
    <p:sldId id="451" r:id="rId35"/>
    <p:sldId id="453" r:id="rId36"/>
    <p:sldId id="454" r:id="rId37"/>
    <p:sldId id="445" r:id="rId38"/>
    <p:sldId id="397" r:id="rId39"/>
    <p:sldId id="411" r:id="rId40"/>
    <p:sldId id="404" r:id="rId41"/>
    <p:sldId id="443" r:id="rId42"/>
    <p:sldId id="394" r:id="rId43"/>
    <p:sldId id="370" r:id="rId44"/>
  </p:sldIdLst>
  <p:sldSz cx="9144000" cy="5143500" type="screen16x9"/>
  <p:notesSz cx="6858000" cy="9144000"/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99"/>
    <a:srgbClr val="800080"/>
    <a:srgbClr val="808080"/>
    <a:srgbClr val="ECD9C6"/>
    <a:srgbClr val="FFB4B4"/>
    <a:srgbClr val="B3B3FF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13" autoAdjust="0"/>
    <p:restoredTop sz="90436" autoAdjust="0"/>
  </p:normalViewPr>
  <p:slideViewPr>
    <p:cSldViewPr snapToObjects="1">
      <p:cViewPr varScale="1">
        <p:scale>
          <a:sx n="114" d="100"/>
          <a:sy n="114" d="100"/>
        </p:scale>
        <p:origin x="696" y="8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80" d="100"/>
          <a:sy n="80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F00993-3FDD-4E80-810D-AC24CF6A32B3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C4235-0F98-4786-8CE2-14E0F0433C5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17486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728AD-B8FF-467B-AF5F-4891412E46D0}" type="datetimeFigureOut">
              <a:rPr lang="de-DE" smtClean="0"/>
              <a:t>14.10.2026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A045E6-D734-4DB2-BEE5-DF972DD20CA2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502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70006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86554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86282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C258E-5341-01D3-9E6F-CF56EAC23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83BE2-FF5A-DCF5-A95F-5C1480E47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06039A-C9BB-7ED1-06C4-5E7718568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5B5A50-09EF-3076-A2FD-D079FCD6E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9463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121B6-41D0-8296-F1A7-AB2CDD30B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3E9BB4C-AE4B-2B7B-762E-1EF0F70F68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25FFF63-AC86-D99D-BC76-E540E34A4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7445E7C-C11C-FD29-1BF9-A97A5B1668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26661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A38BF-C165-CF5F-32B6-D6AB1FEE5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8F67D04-1A13-C42C-58FB-111A28CAF3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DB6F732-996D-3593-6F57-9781EE0E1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4EA42F9-F914-DC80-B28A-D692D2EC70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41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1472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64826-DB04-00C9-2F2F-0C050B6FF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EC43190-20A5-5D4A-4472-BA6EBC580C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14CBE72-5052-5A0B-C89C-CBCBB365B4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DBCBDF-B202-B5DB-7215-467A144AB3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42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2379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A045E6-D734-4DB2-BEE5-DF972DD20CA2}" type="slidenum">
              <a:rPr lang="de-DE" smtClean="0"/>
              <a:t>43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1259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9F4C68DA-A566-1026-B850-E8E43B1C7CE8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68000" y="4230000"/>
            <a:ext cx="7560000" cy="324000"/>
          </a:xfrm>
        </p:spPr>
        <p:txBody>
          <a:bodyPr/>
          <a:lstStyle>
            <a:lvl1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1"/>
                </a:solidFill>
              </a:defRPr>
            </a:lvl1pPr>
            <a:lvl2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2pPr>
            <a:lvl3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3pPr>
            <a:lvl4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4pPr>
            <a:lvl5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5pPr>
            <a:lvl6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6pPr>
            <a:lvl7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7pPr>
            <a:lvl8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8pPr>
            <a:lvl9pPr marL="0" indent="0" algn="l">
              <a:lnSpc>
                <a:spcPts val="2400"/>
              </a:lnSpc>
              <a:spcAft>
                <a:spcPts val="0"/>
              </a:spcAft>
              <a:buFont typeface="Arial" panose="020B0604020202020204" pitchFamily="34" charset="0"/>
              <a:buNone/>
              <a:defRPr sz="1500" b="0">
                <a:solidFill>
                  <a:schemeClr val="bg2"/>
                </a:solidFill>
              </a:defRPr>
            </a:lvl9pPr>
          </a:lstStyle>
          <a:p>
            <a:pPr lvl="0"/>
            <a:r>
              <a:rPr lang="de-DE" dirty="0"/>
              <a:t>Untertitel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>
          <a:xfrm>
            <a:off x="468000" y="4680000"/>
            <a:ext cx="7560000" cy="144000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23" name="Titel 22">
            <a:extLst>
              <a:ext uri="{FF2B5EF4-FFF2-40B4-BE49-F238E27FC236}">
                <a16:creationId xmlns:a16="http://schemas.microsoft.com/office/drawing/2014/main" id="{259FB325-4F00-4E24-9BB5-CBE59A8EE6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3895200"/>
            <a:ext cx="6552272" cy="324000"/>
          </a:xfrm>
        </p:spPr>
        <p:txBody>
          <a:bodyPr/>
          <a:lstStyle>
            <a:lvl1pPr>
              <a:lnSpc>
                <a:spcPts val="2500"/>
              </a:lnSpc>
              <a:defRPr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Titelmasterformat durch Klicken bearbeiten</a:t>
            </a:r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EA11C8C5-D6EB-4C5D-9539-1ADEFC0908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77199" y="3895200"/>
            <a:ext cx="2505600" cy="324000"/>
          </a:xfrm>
        </p:spPr>
        <p:txBody>
          <a:bodyPr anchor="ctr" anchorCtr="0"/>
          <a:lstStyle>
            <a:lvl1pPr algn="ctr">
              <a:defRPr sz="1050"/>
            </a:lvl1pPr>
          </a:lstStyle>
          <a:p>
            <a:r>
              <a:rPr lang="de-DE" dirty="0"/>
              <a:t>Logo auf Platzhalter ziehen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98638057-3C3C-C397-494C-B6D71484C02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6403" y="3372081"/>
            <a:ext cx="2280138" cy="1524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D1A11A22-2E41-AF13-75DF-64DB627B093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-1"/>
            <a:ext cx="8428561" cy="3030633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D600E272-C75A-43FB-581D-B2A6964FE026}"/>
              </a:ext>
            </a:extLst>
          </p:cNvPr>
          <p:cNvSpPr/>
          <p:nvPr userDrawn="1"/>
        </p:nvSpPr>
        <p:spPr>
          <a:xfrm>
            <a:off x="0" y="-1"/>
            <a:ext cx="8460432" cy="3075807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8EB4B7C-A37E-D9B2-79CA-EB88C08DEF6A}"/>
              </a:ext>
            </a:extLst>
          </p:cNvPr>
          <p:cNvSpPr txBox="1"/>
          <p:nvPr userDrawn="1"/>
        </p:nvSpPr>
        <p:spPr>
          <a:xfrm>
            <a:off x="3531330" y="1515315"/>
            <a:ext cx="104067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TITELBILD</a:t>
            </a:r>
          </a:p>
        </p:txBody>
      </p:sp>
      <p:pic>
        <p:nvPicPr>
          <p:cNvPr id="9" name="Bild 5">
            <a:extLst>
              <a:ext uri="{FF2B5EF4-FFF2-40B4-BE49-F238E27FC236}">
                <a16:creationId xmlns:a16="http://schemas.microsoft.com/office/drawing/2014/main" id="{AA066B78-9BB3-BCD0-A3B3-67533DF2A89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693636" y="-1"/>
            <a:ext cx="1090364" cy="10903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2586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HERVORHEBUNG MIT VIEL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8A6D120-9FDF-4BA4-88F2-0C6E4507EEA9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F15F71-44DB-4D13-AE55-D28F1D1B7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756000"/>
            <a:ext cx="8172000" cy="720000"/>
          </a:xfrm>
        </p:spPr>
        <p:txBody>
          <a:bodyPr/>
          <a:lstStyle>
            <a:lvl1pPr>
              <a:lnSpc>
                <a:spcPts val="5700"/>
              </a:lnSpc>
              <a:defRPr sz="4800" b="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3B6EDCF-E80D-4E83-A8E4-8D2B26F44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000" y="1476441"/>
            <a:ext cx="8172000" cy="1439863"/>
          </a:xfrm>
        </p:spPr>
        <p:txBody>
          <a:bodyPr/>
          <a:lstStyle>
            <a:lvl1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1pPr>
            <a:lvl2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2pPr>
            <a:lvl3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3pPr>
            <a:lvl4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4pPr>
            <a:lvl5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5pPr>
            <a:lvl6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6pPr>
            <a:lvl7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7pPr>
            <a:lvl8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8pPr>
            <a:lvl9pPr>
              <a:lnSpc>
                <a:spcPts val="5700"/>
              </a:lnSpc>
              <a:defRPr sz="48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Hervorhebung</a:t>
            </a:r>
          </a:p>
        </p:txBody>
      </p:sp>
    </p:spTree>
    <p:extLst>
      <p:ext uri="{BB962C8B-B14F-4D97-AF65-F5344CB8AC3E}">
        <p14:creationId xmlns:p14="http://schemas.microsoft.com/office/powerpoint/2010/main" val="29108949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APITEL HERVORHEBUNG MIT VIEL INH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88A6D120-9FDF-4BA4-88F2-0C6E4507EEA9}"/>
              </a:ext>
            </a:extLst>
          </p:cNvPr>
          <p:cNvSpPr/>
          <p:nvPr userDrawn="1"/>
        </p:nvSpPr>
        <p:spPr>
          <a:xfrm>
            <a:off x="0" y="0"/>
            <a:ext cx="9144000" cy="514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5F15F71-44DB-4D13-AE55-D28F1D1B73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000" y="828000"/>
            <a:ext cx="8172000" cy="540000"/>
          </a:xfrm>
        </p:spPr>
        <p:txBody>
          <a:bodyPr/>
          <a:lstStyle>
            <a:lvl1pPr>
              <a:lnSpc>
                <a:spcPts val="44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Kapitel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F3B6EDCF-E80D-4E83-A8E4-8D2B26F44C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000" y="1367999"/>
            <a:ext cx="8172000" cy="2916000"/>
          </a:xfrm>
        </p:spPr>
        <p:txBody>
          <a:bodyPr/>
          <a:lstStyle>
            <a:lvl1pPr>
              <a:lnSpc>
                <a:spcPts val="4400"/>
              </a:lnSpc>
              <a:spcAft>
                <a:spcPts val="0"/>
              </a:spcAft>
              <a:defRPr sz="3600" b="0">
                <a:solidFill>
                  <a:schemeClr val="bg1"/>
                </a:solidFill>
              </a:defRPr>
            </a:lvl1pPr>
            <a:lvl2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2pPr>
            <a:lvl3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3pPr>
            <a:lvl4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4pPr>
            <a:lvl5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5pPr>
            <a:lvl6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6pPr>
            <a:lvl7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7pPr>
            <a:lvl8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8pPr>
            <a:lvl9pPr>
              <a:lnSpc>
                <a:spcPts val="4400"/>
              </a:lnSpc>
              <a:defRPr sz="3600" b="0">
                <a:solidFill>
                  <a:schemeClr val="bg1"/>
                </a:solidFill>
              </a:defRPr>
            </a:lvl9pPr>
          </a:lstStyle>
          <a:p>
            <a:pPr lvl="0"/>
            <a:r>
              <a:rPr lang="de-DE" dirty="0"/>
              <a:t>Hervorhebung</a:t>
            </a:r>
          </a:p>
          <a:p>
            <a:pPr lvl="1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70510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Headline //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  <a:lvl2pPr defTabSz="234000">
              <a:tabLst>
                <a:tab pos="234000" algn="l"/>
              </a:tabLst>
              <a:defRPr/>
            </a:lvl2pPr>
            <a:lvl3pPr defTabSz="234000">
              <a:tabLst>
                <a:tab pos="234000" algn="l"/>
              </a:tabLst>
              <a:defRPr/>
            </a:lvl3pPr>
            <a:lvl4pPr defTabSz="234000">
              <a:tabLst>
                <a:tab pos="234000" algn="l"/>
              </a:tabLst>
              <a:defRPr/>
            </a:lvl4pPr>
            <a:lvl5pPr defTabSz="234000">
              <a:tabLst>
                <a:tab pos="234000" algn="l"/>
              </a:tabLst>
              <a:defRPr/>
            </a:lvl5pPr>
            <a:lvl6pPr marL="0" indent="0" defTabSz="234000">
              <a:buFont typeface="+mj-lt"/>
              <a:buNone/>
              <a:tabLst>
                <a:tab pos="234000" algn="l"/>
              </a:tabLst>
              <a:defRPr/>
            </a:lvl6pPr>
            <a:lvl7pPr defTabSz="234000">
              <a:tabLst>
                <a:tab pos="234000" algn="l"/>
              </a:tabLst>
              <a:defRPr/>
            </a:lvl7pPr>
            <a:lvl8pPr defTabSz="234000">
              <a:tabLst>
                <a:tab pos="234000" algn="l"/>
              </a:tabLst>
              <a:defRPr/>
            </a:lvl8pPr>
            <a:lvl9pPr defTabSz="234000">
              <a:tabLst>
                <a:tab pos="234000" algn="l"/>
              </a:tabLst>
              <a:defRPr/>
            </a:lvl9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705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 //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Tabellenplatzhalter 4">
            <a:extLst>
              <a:ext uri="{FF2B5EF4-FFF2-40B4-BE49-F238E27FC236}">
                <a16:creationId xmlns:a16="http://schemas.microsoft.com/office/drawing/2014/main" id="{F5A8BB0B-4BD0-4791-8A9B-89C9D0000E3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68000" y="918000"/>
            <a:ext cx="8172000" cy="336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Tabelle durch Klicken auf Symbol hinzufügen</a:t>
            </a:r>
            <a:endParaRPr lang="de-DE" dirty="0"/>
          </a:p>
        </p:txBody>
      </p:sp>
      <p:grpSp>
        <p:nvGrpSpPr>
          <p:cNvPr id="6" name="Regieanweisungen">
            <a:extLst>
              <a:ext uri="{FF2B5EF4-FFF2-40B4-BE49-F238E27FC236}">
                <a16:creationId xmlns:a16="http://schemas.microsoft.com/office/drawing/2014/main" id="{20CE116F-C667-495A-B654-8B72C3A079E7}"/>
              </a:ext>
            </a:extLst>
          </p:cNvPr>
          <p:cNvGrpSpPr/>
          <p:nvPr userDrawn="1"/>
        </p:nvGrpSpPr>
        <p:grpSpPr>
          <a:xfrm>
            <a:off x="-2628800" y="-468000"/>
            <a:ext cx="14833648" cy="6083999"/>
            <a:chOff x="-2628800" y="-468000"/>
            <a:chExt cx="14833648" cy="6083999"/>
          </a:xfrm>
        </p:grpSpPr>
        <p:sp>
          <p:nvSpPr>
            <p:cNvPr id="16" name="Listenebenen">
              <a:extLst>
                <a:ext uri="{FF2B5EF4-FFF2-40B4-BE49-F238E27FC236}">
                  <a16:creationId xmlns:a16="http://schemas.microsoft.com/office/drawing/2014/main" id="{84A0104B-AA90-4DE7-ADAE-6959FBC15DB1}"/>
                </a:ext>
              </a:extLst>
            </p:cNvPr>
            <p:cNvSpPr txBox="1"/>
            <p:nvPr userDrawn="1"/>
          </p:nvSpPr>
          <p:spPr>
            <a:xfrm rot="10800000" flipH="1" flipV="1">
              <a:off x="-2628800" y="1368000"/>
              <a:ext cx="2520800" cy="1527786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Einfärbung einer Spalte/Zeile: </a:t>
              </a:r>
              <a:br>
                <a:rPr lang="de-DE" sz="1200" b="0" baseline="0" dirty="0">
                  <a:solidFill>
                    <a:schemeClr val="tx1"/>
                  </a:solidFill>
                  <a:latin typeface="+mn-lt"/>
                </a:rPr>
              </a:b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Spalte/Zeile: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 Entwurf / Tabellentools &gt; Schattierung &gt;</a:t>
              </a: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de-DE" sz="1200" b="1" baseline="0" dirty="0">
                <a:solidFill>
                  <a:schemeClr val="tx1"/>
                </a:solidFill>
                <a:latin typeface="+mn-lt"/>
              </a:endParaRPr>
            </a:p>
            <a:p>
              <a:pPr marL="0" marR="0" lvl="0" indent="0" algn="r" defTabSz="9059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Die gewünschte Farbe aus den Designfarben auswählen</a:t>
              </a:r>
            </a:p>
          </p:txBody>
        </p:sp>
        <p:sp>
          <p:nvSpPr>
            <p:cNvPr id="10" name="Zurücksetzen">
              <a:extLst>
                <a:ext uri="{FF2B5EF4-FFF2-40B4-BE49-F238E27FC236}">
                  <a16:creationId xmlns:a16="http://schemas.microsoft.com/office/drawing/2014/main" id="{431D1FFE-03BA-4520-A89B-CDD1BC7E4751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648000"/>
              <a:ext cx="1944000" cy="612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Folie in Ursprungsform 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bringen über Menü: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Start &gt; Folien &gt; Zurücksetzen</a:t>
              </a:r>
            </a:p>
          </p:txBody>
        </p:sp>
        <p:sp>
          <p:nvSpPr>
            <p:cNvPr id="11" name="Hilfslinien">
              <a:extLst>
                <a:ext uri="{FF2B5EF4-FFF2-40B4-BE49-F238E27FC236}">
                  <a16:creationId xmlns:a16="http://schemas.microsoft.com/office/drawing/2014/main" id="{38EA8585-E11F-4D10-9DAB-78E6756B2D63}"/>
                </a:ext>
              </a:extLst>
            </p:cNvPr>
            <p:cNvSpPr txBox="1"/>
            <p:nvPr userDrawn="1"/>
          </p:nvSpPr>
          <p:spPr>
            <a:xfrm rot="10800000" flipH="1" flipV="1">
              <a:off x="431801" y="-468000"/>
              <a:ext cx="8280400" cy="360000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b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de-DE" sz="12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Löschen einer Spalte/Zeile: </a:t>
              </a:r>
              <a:r>
                <a:rPr kumimoji="0" lang="de-DE" sz="12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Markieren der Spalte/Zeile: Layout &gt; Löschen &gt; Spalte bzw. Zeile löschen</a:t>
              </a:r>
            </a:p>
          </p:txBody>
        </p:sp>
        <p:sp>
          <p:nvSpPr>
            <p:cNvPr id="12" name="Fußzeile">
              <a:extLst>
                <a:ext uri="{FF2B5EF4-FFF2-40B4-BE49-F238E27FC236}">
                  <a16:creationId xmlns:a16="http://schemas.microsoft.com/office/drawing/2014/main" id="{4EFB3271-7B15-42ED-A704-B39FAEDC1436}"/>
                </a:ext>
              </a:extLst>
            </p:cNvPr>
            <p:cNvSpPr txBox="1"/>
            <p:nvPr userDrawn="1"/>
          </p:nvSpPr>
          <p:spPr>
            <a:xfrm rot="10800000" flipH="1" flipV="1">
              <a:off x="431800" y="5255998"/>
              <a:ext cx="8280400" cy="360001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103341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Fußzeile anpassen: </a:t>
              </a: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Einfügen &gt; Text &gt; Kopf- und Fußzeile</a:t>
              </a:r>
            </a:p>
          </p:txBody>
        </p:sp>
        <p:sp>
          <p:nvSpPr>
            <p:cNvPr id="13" name="Layoutwechsel">
              <a:extLst>
                <a:ext uri="{FF2B5EF4-FFF2-40B4-BE49-F238E27FC236}">
                  <a16:creationId xmlns:a16="http://schemas.microsoft.com/office/drawing/2014/main" id="{6BCDAEA0-53BC-4E57-84CA-5C530F05A90E}"/>
                </a:ext>
              </a:extLst>
            </p:cNvPr>
            <p:cNvSpPr txBox="1"/>
            <p:nvPr userDrawn="1"/>
          </p:nvSpPr>
          <p:spPr>
            <a:xfrm rot="10800000" flipH="1" flipV="1">
              <a:off x="9252000" y="2283786"/>
              <a:ext cx="2952848" cy="1044048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0" tIns="0" rIns="0" bIns="0" rtlCol="0" anchor="t" anchorCtr="0">
              <a:noAutofit/>
            </a:bodyPr>
            <a:lstStyle>
              <a:defPPr>
                <a:defRPr lang="de-DE"/>
              </a:defPPr>
              <a:lvl1pPr marL="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2152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04305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56458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86112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607640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3129168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650696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4172224" algn="l" defTabSz="1043056" rtl="0" eaLnBrk="1" latinLnBrk="0" hangingPunct="1"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0" baseline="0" dirty="0">
                  <a:solidFill>
                    <a:schemeClr val="tx1"/>
                  </a:solidFill>
                  <a:latin typeface="+mn-lt"/>
                </a:rPr>
                <a:t>Einfügen einer Spalte/Zeile: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Markieren der Spalte/Zeile neben der eine weitere eingefügt werden soll:</a:t>
              </a:r>
            </a:p>
            <a:p>
              <a:pPr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DE" sz="1200" b="1" baseline="0" dirty="0">
                  <a:solidFill>
                    <a:schemeClr val="tx1"/>
                  </a:solidFill>
                  <a:latin typeface="+mn-lt"/>
                </a:rPr>
                <a:t>Layout &gt; Hier die gewünschte Einfügeoption auswählen</a:t>
              </a:r>
            </a:p>
          </p:txBody>
        </p:sp>
      </p:grp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4573989D-8FFD-4555-AAB7-592C2CE3AC9F}"/>
              </a:ext>
            </a:extLst>
          </p:cNvPr>
          <p:cNvCxnSpPr/>
          <p:nvPr userDrawn="1"/>
        </p:nvCxnSpPr>
        <p:spPr>
          <a:xfrm>
            <a:off x="0" y="4485600"/>
            <a:ext cx="9144000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F3269418-AEC9-43D6-9A0C-41CA02546BA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4513"/>
          <a:stretch/>
        </p:blipFill>
        <p:spPr>
          <a:xfrm>
            <a:off x="9252000" y="3327773"/>
            <a:ext cx="2067213" cy="86415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081CC49D-33BF-49DC-B533-86BE2EB412A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308000" y="4679640"/>
            <a:ext cx="1512000" cy="28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541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5148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 dirty="0"/>
              <a:t>Vollbild durch klicken einfügen.</a:t>
            </a:r>
          </a:p>
        </p:txBody>
      </p:sp>
    </p:spTree>
    <p:extLst>
      <p:ext uri="{BB962C8B-B14F-4D97-AF65-F5344CB8AC3E}">
        <p14:creationId xmlns:p14="http://schemas.microsoft.com/office/powerpoint/2010/main" val="3911177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kl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2052000" y="468000"/>
            <a:ext cx="5040000" cy="336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51999" y="3952800"/>
            <a:ext cx="5040000" cy="32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3257041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292" userDrawn="1">
          <p15:clr>
            <a:srgbClr val="FBAE40"/>
          </p15:clr>
        </p15:guide>
        <p15:guide id="2" pos="4468" userDrawn="1">
          <p15:clr>
            <a:srgbClr val="FBAE40"/>
          </p15:clr>
        </p15:guide>
        <p15:guide id="3" orient="horz" pos="291" userDrawn="1">
          <p15:clr>
            <a:srgbClr val="FBAE40"/>
          </p15:clr>
        </p15:guide>
        <p15:guide id="4" orient="horz" pos="241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000" y="468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00" y="3240000"/>
            <a:ext cx="3960000" cy="104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</a:t>
            </a:r>
            <a:r>
              <a:rPr lang="de-DE" dirty="0" err="1"/>
              <a:t>Bildunterzeile</a:t>
            </a:r>
            <a:r>
              <a:rPr lang="de-DE" dirty="0"/>
              <a:t>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0000" y="468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240000"/>
            <a:ext cx="3960000" cy="1044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</a:t>
            </a:r>
            <a:r>
              <a:rPr lang="de-DE" dirty="0" err="1"/>
              <a:t>Bildunterzeile</a:t>
            </a:r>
            <a:r>
              <a:rPr lang="de-DE" dirty="0"/>
              <a:t> // für weitere Ebenen (Text)  &gt;&gt; Menü &gt; Start &gt; Absatz &gt; Listenebene erhöhen</a:t>
            </a:r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622643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3" userDrawn="1">
          <p15:clr>
            <a:srgbClr val="FBAE40"/>
          </p15:clr>
        </p15:guide>
        <p15:guide id="3" orient="horz" pos="291">
          <p15:clr>
            <a:srgbClr val="FBAE40"/>
          </p15:clr>
        </p15:guide>
        <p15:guide id="4" orient="horz" pos="1963" userDrawn="1">
          <p15:clr>
            <a:srgbClr val="FBAE40"/>
          </p15:clr>
        </p15:guide>
        <p15:guide id="5" pos="27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ilder inkl.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EC3A98A1-0379-4B57-A126-017C70E194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8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B422CC4-3EFE-4A06-B194-FAB2C24ECED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6DC3B07E-B021-4B5C-9450-33EDD58444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8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8" name="Bildplatzhalter 6">
            <a:extLst>
              <a:ext uri="{FF2B5EF4-FFF2-40B4-BE49-F238E27FC236}">
                <a16:creationId xmlns:a16="http://schemas.microsoft.com/office/drawing/2014/main" id="{CFABEA7C-7103-4FAC-AAB1-B8FF068486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80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9CA26BD8-E4CD-4A9F-ACC0-895F1FD274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0B3784F-BC20-4A45-986C-728B00F596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</p:spTree>
    <p:extLst>
      <p:ext uri="{BB962C8B-B14F-4D97-AF65-F5344CB8AC3E}">
        <p14:creationId xmlns:p14="http://schemas.microsoft.com/office/powerpoint/2010/main" val="4262250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  <p15:guide id="5" pos="2790">
          <p15:clr>
            <a:srgbClr val="FBAE40"/>
          </p15:clr>
        </p15:guide>
        <p15:guide id="6" pos="5444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324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04000" y="954000"/>
            <a:ext cx="4536000" cy="3024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119991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83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50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Bild inkl. Bildunter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4104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 dirty="0"/>
              <a:t> </a:t>
            </a:r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3587194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 userDrawn="1">
          <p15:clr>
            <a:srgbClr val="FBAE40"/>
          </p15:clr>
        </p15:guide>
        <p15:guide id="2" pos="5444" userDrawn="1">
          <p15:clr>
            <a:srgbClr val="FBAE40"/>
          </p15:clr>
        </p15:guide>
        <p15:guide id="3" orient="horz" pos="596" userDrawn="1">
          <p15:clr>
            <a:srgbClr val="FBAE40"/>
          </p15:clr>
        </p15:guide>
        <p15:guide id="4" orient="horz" pos="226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Bild inkl. Bildunterzeile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5220000" y="918000"/>
            <a:ext cx="342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954000"/>
            <a:ext cx="3960000" cy="2646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5">
            <a:extLst>
              <a:ext uri="{FF2B5EF4-FFF2-40B4-BE49-F238E27FC236}">
                <a16:creationId xmlns:a16="http://schemas.microsoft.com/office/drawing/2014/main" id="{E8C92916-9C2D-4160-84A7-92C7AE8CF34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68000" y="3708000"/>
            <a:ext cx="3960000" cy="576000"/>
          </a:xfrm>
        </p:spPr>
        <p:txBody>
          <a:bodyPr/>
          <a:lstStyle>
            <a:lvl1pPr>
              <a:lnSpc>
                <a:spcPts val="1200"/>
              </a:lnSpc>
              <a:spcAft>
                <a:spcPts val="0"/>
              </a:spcAft>
              <a:defRPr sz="900"/>
            </a:lvl1pPr>
            <a:lvl2pPr>
              <a:lnSpc>
                <a:spcPts val="1200"/>
              </a:lnSpc>
              <a:spcAft>
                <a:spcPts val="0"/>
              </a:spcAft>
              <a:defRPr sz="900"/>
            </a:lvl2pPr>
            <a:lvl3pPr>
              <a:lnSpc>
                <a:spcPts val="1200"/>
              </a:lnSpc>
              <a:spcAft>
                <a:spcPts val="0"/>
              </a:spcAft>
              <a:defRPr sz="900"/>
            </a:lvl3pPr>
            <a:lvl4pPr>
              <a:lnSpc>
                <a:spcPts val="1200"/>
              </a:lnSpc>
              <a:spcAft>
                <a:spcPts val="0"/>
              </a:spcAft>
              <a:defRPr sz="900"/>
            </a:lvl4pPr>
            <a:lvl5pPr>
              <a:lnSpc>
                <a:spcPts val="1200"/>
              </a:lnSpc>
              <a:spcAft>
                <a:spcPts val="0"/>
              </a:spcAft>
              <a:defRPr sz="900"/>
            </a:lvl5pPr>
            <a:lvl6pPr>
              <a:lnSpc>
                <a:spcPts val="1200"/>
              </a:lnSpc>
              <a:spcAft>
                <a:spcPts val="0"/>
              </a:spcAft>
              <a:defRPr sz="900"/>
            </a:lvl6pPr>
            <a:lvl7pPr>
              <a:lnSpc>
                <a:spcPts val="1200"/>
              </a:lnSpc>
              <a:spcAft>
                <a:spcPts val="0"/>
              </a:spcAft>
              <a:defRPr sz="900"/>
            </a:lvl7pPr>
            <a:lvl8pPr>
              <a:lnSpc>
                <a:spcPts val="1200"/>
              </a:lnSpc>
              <a:spcAft>
                <a:spcPts val="0"/>
              </a:spcAft>
              <a:defRPr sz="900"/>
            </a:lvl8pPr>
            <a:lvl9pPr>
              <a:lnSpc>
                <a:spcPts val="1200"/>
              </a:lnSpc>
              <a:spcAft>
                <a:spcPts val="0"/>
              </a:spcAft>
              <a:defRPr sz="900"/>
            </a:lvl9pPr>
          </a:lstStyle>
          <a:p>
            <a:pPr lvl="0"/>
            <a:r>
              <a:rPr lang="de-DE" dirty="0"/>
              <a:t>Bildunterzeile // für weitere Ebenen (Text)  &gt;&gt; Menü &gt; Start &gt; Absatz &gt; Listenebene erhöhen </a:t>
            </a:r>
          </a:p>
          <a:p>
            <a:pPr lvl="0"/>
            <a:endParaRPr lang="de-DE" dirty="0"/>
          </a:p>
          <a:p>
            <a:pPr lvl="1"/>
            <a:r>
              <a:rPr lang="de-DE" dirty="0"/>
              <a:t>Zweite Ebene</a:t>
            </a:r>
          </a:p>
        </p:txBody>
      </p:sp>
    </p:spTree>
    <p:extLst>
      <p:ext uri="{BB962C8B-B14F-4D97-AF65-F5344CB8AC3E}">
        <p14:creationId xmlns:p14="http://schemas.microsoft.com/office/powerpoint/2010/main" val="2413746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945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226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Text /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468000" y="918000"/>
            <a:ext cx="540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0000" y="954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3CCF540-0E4F-47A6-981D-1A856FBCB4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80000" y="2628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5624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77" userDrawn="1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1653" userDrawn="1">
          <p15:clr>
            <a:srgbClr val="FBAE40"/>
          </p15:clr>
        </p15:guide>
        <p15:guide id="5" orient="horz" pos="2564" userDrawn="1">
          <p15:clr>
            <a:srgbClr val="FBAE40"/>
          </p15:clr>
        </p15:guide>
        <p15:guide id="6" orient="horz" pos="1513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/ 2 Bilder /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KAPITEL | CHART-HEADLINE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240000" y="918000"/>
            <a:ext cx="5400000" cy="3366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C8FE19E-1A66-4F06-9454-D8ECA4880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6DB40BEE-2C74-4B7C-AA75-FB330D4E18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8000" y="954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sp>
        <p:nvSpPr>
          <p:cNvPr id="7" name="Bildplatzhalter 4">
            <a:extLst>
              <a:ext uri="{FF2B5EF4-FFF2-40B4-BE49-F238E27FC236}">
                <a16:creationId xmlns:a16="http://schemas.microsoft.com/office/drawing/2014/main" id="{73CCF540-0E4F-47A6-981D-1A856FBCB4E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68000" y="2628000"/>
            <a:ext cx="2160000" cy="1440000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987010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658" userDrawn="1">
          <p15:clr>
            <a:srgbClr val="FBAE40"/>
          </p15:clr>
        </p15:guide>
        <p15:guide id="2" pos="5444">
          <p15:clr>
            <a:srgbClr val="FBAE40"/>
          </p15:clr>
        </p15:guide>
        <p15:guide id="3" orient="horz" pos="596">
          <p15:clr>
            <a:srgbClr val="FBAE40"/>
          </p15:clr>
        </p15:guide>
        <p15:guide id="4" orient="horz" pos="1653">
          <p15:clr>
            <a:srgbClr val="FBAE40"/>
          </p15:clr>
        </p15:guide>
        <p15:guide id="5" orient="horz" pos="2564">
          <p15:clr>
            <a:srgbClr val="FBAE40"/>
          </p15:clr>
        </p15:guide>
        <p15:guide id="6" orient="horz" pos="151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HEADLINE EINFÜGEN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5674647-E98A-4E91-B769-603FBD38F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83634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E7FEC2D-DBFC-481D-89EF-55316F02D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0000" y="4840014"/>
            <a:ext cx="6300000" cy="108000"/>
          </a:xfrm>
          <a:prstGeom prst="rect">
            <a:avLst/>
          </a:prstGeom>
        </p:spPr>
        <p:txBody>
          <a:bodyPr/>
          <a:lstStyle/>
          <a:p>
            <a:r>
              <a:rPr lang="de-DE"/>
              <a:t>MENSCHLICH – WELTOFFEN – LEISTUNGSSTARK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C5583F-31A1-412C-900F-41106AD78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de-DE" smtClean="0"/>
              <a:pPr/>
              <a:t>‹#›</a:t>
            </a:fld>
            <a:r>
              <a:rPr lang="de-DE"/>
              <a:t>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81779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360000" y="5524114"/>
            <a:ext cx="4284008" cy="179984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9DEEBD-E611-4601-8478-2EAA0B8A8506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58522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 userDrawn="1">
            <p:ph type="title"/>
          </p:nvPr>
        </p:nvSpPr>
        <p:spPr>
          <a:xfrm>
            <a:off x="468000" y="396000"/>
            <a:ext cx="7560000" cy="46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KAPITEL | CHART-HEADLINE</a:t>
            </a:r>
          </a:p>
        </p:txBody>
      </p:sp>
      <p:sp>
        <p:nvSpPr>
          <p:cNvPr id="3" name="Textplatzhalter 2"/>
          <p:cNvSpPr>
            <a:spLocks noGrp="1"/>
          </p:cNvSpPr>
          <p:nvPr userDrawn="1">
            <p:ph type="body" idx="1"/>
          </p:nvPr>
        </p:nvSpPr>
        <p:spPr>
          <a:xfrm>
            <a:off x="468000" y="918000"/>
            <a:ext cx="7560000" cy="3366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 dirty="0" err="1"/>
              <a:t>Subline</a:t>
            </a:r>
            <a:r>
              <a:rPr lang="de-DE" dirty="0"/>
              <a:t> auf erster Ebene // für weitere Ebenen (Text und Aufzählungen &gt;&gt; Menü &gt; Start &gt; Absatz &gt; Listenebene erhöhen 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098AA80-601F-3413-3F50-122C39092FD0}"/>
              </a:ext>
            </a:extLst>
          </p:cNvPr>
          <p:cNvSpPr/>
          <p:nvPr userDrawn="1"/>
        </p:nvSpPr>
        <p:spPr>
          <a:xfrm>
            <a:off x="0" y="4663543"/>
            <a:ext cx="9144000" cy="479957"/>
          </a:xfrm>
          <a:prstGeom prst="rect">
            <a:avLst/>
          </a:prstGeom>
          <a:solidFill>
            <a:srgbClr val="00356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de-DE" sz="1013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24F3000F-F0D4-1793-33CE-24941C3028C4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2482" y="4747500"/>
            <a:ext cx="1271159" cy="339502"/>
          </a:xfrm>
          <a:prstGeom prst="rect">
            <a:avLst/>
          </a:prstGeom>
        </p:spPr>
      </p:pic>
      <p:sp>
        <p:nvSpPr>
          <p:cNvPr id="6" name="Foliennummernplatzhalter 5"/>
          <p:cNvSpPr>
            <a:spLocks noGrp="1"/>
          </p:cNvSpPr>
          <p:nvPr userDrawn="1">
            <p:ph type="sldNum" sz="quarter" idx="4"/>
          </p:nvPr>
        </p:nvSpPr>
        <p:spPr>
          <a:xfrm>
            <a:off x="324000" y="4840014"/>
            <a:ext cx="252000" cy="108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900" baseline="0">
                <a:ln>
                  <a:solidFill>
                    <a:schemeClr val="bg1"/>
                  </a:solidFill>
                </a:ln>
                <a:solidFill>
                  <a:schemeClr val="tx2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defRPr sz="1200" baseline="0">
                <a:latin typeface="+mn-lt"/>
              </a:defRPr>
            </a:lvl9pPr>
          </a:lstStyle>
          <a:p>
            <a:fld id="{6C8FC03C-C266-4645-ABC5-645062898383}" type="slidenum">
              <a:rPr lang="de-DE" smtClean="0"/>
              <a:pPr/>
              <a:t>‹#›</a:t>
            </a:fld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50419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7" r:id="rId3"/>
    <p:sldLayoutId id="2147483650" r:id="rId4"/>
    <p:sldLayoutId id="2147483667" r:id="rId5"/>
    <p:sldLayoutId id="2147483658" r:id="rId6"/>
    <p:sldLayoutId id="2147483659" r:id="rId7"/>
    <p:sldLayoutId id="2147483660" r:id="rId8"/>
    <p:sldLayoutId id="2147483661" r:id="rId9"/>
    <p:sldLayoutId id="2147483663" r:id="rId10"/>
    <p:sldLayoutId id="2147483662" r:id="rId11"/>
    <p:sldLayoutId id="2147483664" r:id="rId12"/>
    <p:sldLayoutId id="2147483665" r:id="rId13"/>
    <p:sldLayoutId id="2147483666" r:id="rId14"/>
    <p:sldLayoutId id="2147483654" r:id="rId15"/>
    <p:sldLayoutId id="2147483655" r:id="rId16"/>
    <p:sldLayoutId id="2147483668" r:id="rId17"/>
  </p:sldLayoutIdLst>
  <p:hf hdr="0" ftr="0" dt="0"/>
  <p:txStyles>
    <p:title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2700" b="0" kern="1200" baseline="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1200"/>
        </a:spcAft>
        <a:buSzPct val="75000"/>
        <a:buFont typeface="Arial" panose="020B0604020202020204" pitchFamily="34" charset="0"/>
        <a:buNone/>
        <a:defRPr sz="1500" b="1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234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bg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468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702000" indent="-23400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anose="05000000000000000000" pitchFamily="2" charset="2"/>
        <a:buChar char="§"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685800" rtl="0" eaLnBrk="1" latinLnBrk="0" hangingPunct="1">
        <a:lnSpc>
          <a:spcPts val="1800"/>
        </a:lnSpc>
        <a:spcBef>
          <a:spcPts val="0"/>
        </a:spcBef>
        <a:spcAft>
          <a:spcPts val="600"/>
        </a:spcAft>
        <a:buSzPct val="75000"/>
        <a:buFont typeface="Arial" panose="020B0604020202020204" pitchFamily="34" charset="0"/>
        <a:buNone/>
        <a:defRPr sz="15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2" userDrawn="1">
          <p15:clr>
            <a:srgbClr val="5ACBF0"/>
          </p15:clr>
        </p15:guide>
        <p15:guide id="2" pos="5059" userDrawn="1">
          <p15:clr>
            <a:srgbClr val="5ACBF0"/>
          </p15:clr>
        </p15:guide>
        <p15:guide id="3" orient="horz" pos="245" userDrawn="1">
          <p15:clr>
            <a:srgbClr val="5ACBF0"/>
          </p15:clr>
        </p15:guide>
        <p15:guide id="4" orient="horz" pos="2700" userDrawn="1">
          <p15:clr>
            <a:srgbClr val="5ACBF0"/>
          </p15:clr>
        </p15:guide>
        <p15:guide id="5" pos="5443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62F4A4-A69A-9E9E-F3B2-770786F68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50"/>
            <a:ext cx="7740352" cy="3072755"/>
          </a:xfrm>
          <a:prstGeom prst="rect">
            <a:avLst/>
          </a:prstGeom>
        </p:spPr>
      </p:pic>
      <p:sp>
        <p:nvSpPr>
          <p:cNvPr id="4" name="Titel">
            <a:extLst>
              <a:ext uri="{FF2B5EF4-FFF2-40B4-BE49-F238E27FC236}">
                <a16:creationId xmlns:a16="http://schemas.microsoft.com/office/drawing/2014/main" id="{591F5E70-F6F5-4247-85F2-66AA884FA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748" y="3795886"/>
            <a:ext cx="8218700" cy="334800"/>
          </a:xfrm>
        </p:spPr>
        <p:txBody>
          <a:bodyPr/>
          <a:lstStyle/>
          <a:p>
            <a:r>
              <a:rPr lang="en-GB" sz="1800" b="1" noProof="0" dirty="0">
                <a:solidFill>
                  <a:schemeClr val="bg1"/>
                </a:solidFill>
              </a:rPr>
              <a:t>MINING AND STRUCTURING LOGGING GUIDELINES FOR IMPROVING LOG ANALYSIS</a:t>
            </a:r>
          </a:p>
        </p:txBody>
      </p:sp>
      <p:sp>
        <p:nvSpPr>
          <p:cNvPr id="2" name="Untertitel">
            <a:extLst>
              <a:ext uri="{FF2B5EF4-FFF2-40B4-BE49-F238E27FC236}">
                <a16:creationId xmlns:a16="http://schemas.microsoft.com/office/drawing/2014/main" id="{3F806E7C-E56D-41BC-8AA6-00785CAB756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395536" y="4364532"/>
            <a:ext cx="7560000" cy="324000"/>
          </a:xfrm>
        </p:spPr>
        <p:txBody>
          <a:bodyPr/>
          <a:lstStyle/>
          <a:p>
            <a:r>
              <a:rPr lang="en-GB" sz="900" b="0" noProof="0" dirty="0">
                <a:solidFill>
                  <a:schemeClr val="bg1"/>
                </a:solidFill>
              </a:rPr>
              <a:t>Supervisor: Thorsten Berger</a:t>
            </a:r>
            <a:br>
              <a:rPr lang="en-GB" sz="900" b="0" noProof="0" dirty="0">
                <a:solidFill>
                  <a:schemeClr val="bg1"/>
                </a:solidFill>
              </a:rPr>
            </a:br>
            <a:r>
              <a:rPr lang="en-GB" sz="900" b="0" noProof="0" dirty="0">
                <a:solidFill>
                  <a:schemeClr val="bg1"/>
                </a:solidFill>
              </a:rPr>
              <a:t>Advisor: Mukelabai </a:t>
            </a:r>
            <a:r>
              <a:rPr lang="en-GB" sz="900" b="0" noProof="0" dirty="0" err="1">
                <a:solidFill>
                  <a:schemeClr val="bg1"/>
                </a:solidFill>
              </a:rPr>
              <a:t>Mukelabai</a:t>
            </a:r>
            <a:br>
              <a:rPr lang="en-GB" sz="900" b="0" noProof="0" dirty="0">
                <a:solidFill>
                  <a:schemeClr val="bg1"/>
                </a:solidFill>
              </a:rPr>
            </a:br>
            <a:r>
              <a:rPr lang="en-GB" sz="900" b="0" noProof="0" dirty="0">
                <a:solidFill>
                  <a:schemeClr val="bg1"/>
                </a:solidFill>
              </a:rPr>
              <a:t>Dilsan Mahadeva, 14.10.26</a:t>
            </a:r>
          </a:p>
        </p:txBody>
      </p:sp>
    </p:spTree>
    <p:extLst>
      <p:ext uri="{BB962C8B-B14F-4D97-AF65-F5344CB8AC3E}">
        <p14:creationId xmlns:p14="http://schemas.microsoft.com/office/powerpoint/2010/main" val="662600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">
            <a:extLst>
              <a:ext uri="{FF2B5EF4-FFF2-40B4-BE49-F238E27FC236}">
                <a16:creationId xmlns:a16="http://schemas.microsoft.com/office/drawing/2014/main" id="{52BE8065-DCB2-F562-BB93-F283AE16DC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700" b="0" kern="1200" baseline="0">
                <a:solidFill>
                  <a:schemeClr val="tx2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b="1" noProof="0" dirty="0">
                <a:latin typeface="Arial" panose="020B0604020202020204" pitchFamily="34" charset="0"/>
                <a:cs typeface="Arial" panose="020B0604020202020204" pitchFamily="34" charset="0"/>
              </a:rPr>
              <a:t>Table of content</a:t>
            </a:r>
            <a:endParaRPr lang="en-GB" b="1" noProof="0" dirty="0"/>
          </a:p>
        </p:txBody>
      </p:sp>
      <p:sp>
        <p:nvSpPr>
          <p:cNvPr id="3" name="Folientext">
            <a:extLst>
              <a:ext uri="{FF2B5EF4-FFF2-40B4-BE49-F238E27FC236}">
                <a16:creationId xmlns:a16="http://schemas.microsoft.com/office/drawing/2014/main" id="{62E373E2-E479-4B85-B011-875D0EA6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000" y="955454"/>
            <a:ext cx="4104000" cy="3366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14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  <a:t>Motivation &amp; Research Problem</a:t>
            </a:r>
            <a:br>
              <a:rPr lang="en-GB" sz="1400" noProof="0" dirty="0">
                <a:solidFill>
                  <a:srgbClr val="17365C"/>
                </a:solidFill>
                <a:latin typeface="+mj-lt"/>
                <a:cs typeface="Arial" panose="020B0604020202020204" pitchFamily="34" charset="0"/>
              </a:rPr>
            </a:br>
            <a:endParaRPr lang="en-GB" sz="1400" noProof="0" dirty="0">
              <a:latin typeface="+mj-lt"/>
            </a:endParaRP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1400" noProof="0" dirty="0">
                <a:solidFill>
                  <a:srgbClr val="17365C"/>
                </a:solidFill>
                <a:cs typeface="Arial" panose="020B0604020202020204" pitchFamily="34" charset="0"/>
              </a:rPr>
              <a:t>Research Questions, Design</a:t>
            </a:r>
            <a:br>
              <a:rPr lang="en-GB" sz="1400" noProof="0" dirty="0">
                <a:solidFill>
                  <a:srgbClr val="17365C"/>
                </a:solidFill>
                <a:cs typeface="Arial" panose="020B0604020202020204" pitchFamily="34" charset="0"/>
              </a:rPr>
            </a:br>
            <a:endParaRPr lang="en-GB" sz="1400" noProof="0" dirty="0">
              <a:solidFill>
                <a:srgbClr val="17365C"/>
              </a:solidFill>
              <a:cs typeface="Arial" panose="020B0604020202020204" pitchFamily="34" charset="0"/>
            </a:endParaRP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1400" noProof="0" dirty="0">
                <a:solidFill>
                  <a:srgbClr val="17365C"/>
                </a:solidFill>
                <a:cs typeface="Arial" panose="020B0604020202020204" pitchFamily="34" charset="0"/>
              </a:rPr>
              <a:t>Methodology</a:t>
            </a:r>
            <a:br>
              <a:rPr lang="en-GB" sz="1400" noProof="0" dirty="0">
                <a:solidFill>
                  <a:srgbClr val="17365C"/>
                </a:solidFill>
                <a:cs typeface="Arial" panose="020B0604020202020204" pitchFamily="34" charset="0"/>
              </a:rPr>
            </a:br>
            <a:endParaRPr lang="en-GB" sz="1400" noProof="0" dirty="0">
              <a:solidFill>
                <a:srgbClr val="17365C"/>
              </a:solidFill>
              <a:cs typeface="Arial" panose="020B0604020202020204" pitchFamily="34" charset="0"/>
            </a:endParaRP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1400" noProof="0" dirty="0">
                <a:solidFill>
                  <a:srgbClr val="17365C"/>
                </a:solidFill>
                <a:cs typeface="Arial" panose="020B0604020202020204" pitchFamily="34" charset="0"/>
              </a:rPr>
              <a:t>Results</a:t>
            </a:r>
            <a:br>
              <a:rPr lang="en-GB" sz="1400" noProof="0" dirty="0">
                <a:solidFill>
                  <a:srgbClr val="17365C"/>
                </a:solidFill>
                <a:cs typeface="Arial" panose="020B0604020202020204" pitchFamily="34" charset="0"/>
              </a:rPr>
            </a:br>
            <a:endParaRPr lang="en-GB" sz="1400" noProof="0" dirty="0">
              <a:solidFill>
                <a:srgbClr val="17365C"/>
              </a:solidFill>
              <a:cs typeface="Arial" panose="020B0604020202020204" pitchFamily="34" charset="0"/>
            </a:endParaRP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1400" noProof="0" dirty="0">
                <a:solidFill>
                  <a:srgbClr val="17365C"/>
                </a:solidFill>
                <a:cs typeface="Arial" panose="020B0604020202020204" pitchFamily="34" charset="0"/>
              </a:rPr>
              <a:t>Discussions &amp; Contribution</a:t>
            </a:r>
            <a:br>
              <a:rPr lang="en-GB" sz="1400" noProof="0" dirty="0">
                <a:solidFill>
                  <a:srgbClr val="17365C"/>
                </a:solidFill>
                <a:cs typeface="Arial" panose="020B0604020202020204" pitchFamily="34" charset="0"/>
              </a:rPr>
            </a:br>
            <a:endParaRPr lang="en-GB" sz="1400" noProof="0" dirty="0">
              <a:solidFill>
                <a:srgbClr val="17365C"/>
              </a:solidFill>
              <a:cs typeface="Arial" panose="020B0604020202020204" pitchFamily="34" charset="0"/>
            </a:endParaRPr>
          </a:p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1400" noProof="0" dirty="0">
                <a:solidFill>
                  <a:srgbClr val="17365C"/>
                </a:solidFill>
                <a:cs typeface="Arial" panose="020B0604020202020204" pitchFamily="34" charset="0"/>
              </a:rPr>
              <a:t>Conclusion</a:t>
            </a:r>
          </a:p>
          <a:p>
            <a:pPr marL="0" lvl="2" indent="0">
              <a:lnSpc>
                <a:spcPct val="100000"/>
              </a:lnSpc>
              <a:buClr>
                <a:schemeClr val="tx2"/>
              </a:buClr>
              <a:buSzPct val="130000"/>
              <a:buNone/>
            </a:pPr>
            <a:endParaRPr lang="en-GB" sz="1400" noProof="0" dirty="0">
              <a:latin typeface="+mj-lt"/>
            </a:endParaRPr>
          </a:p>
        </p:txBody>
      </p:sp>
      <p:sp>
        <p:nvSpPr>
          <p:cNvPr id="14" name="Foliennummer">
            <a:extLst>
              <a:ext uri="{FF2B5EF4-FFF2-40B4-BE49-F238E27FC236}">
                <a16:creationId xmlns:a16="http://schemas.microsoft.com/office/drawing/2014/main" id="{3D11CD25-63E6-DF10-C1A1-8C6740139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8FC03C-C266-4645-ABC5-645062898383}" type="slidenum">
              <a:rPr lang="en-GB" sz="700" noProof="0" smtClean="0"/>
              <a:pPr/>
              <a:t>2</a:t>
            </a:fld>
            <a:r>
              <a:rPr lang="en-GB" sz="700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1759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DA40A8B-6345-2430-0E58-CE6E16436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  <a:t>Motivation</a:t>
            </a:r>
            <a:endParaRPr lang="en-GB" sz="2400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DB93A50-7D16-0EFA-627C-A54B36AE1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r>
              <a:rPr lang="en-GB" sz="700" noProof="0" dirty="0"/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F02395-7BB7-48B2-F654-FE1CFCD02D68}"/>
              </a:ext>
            </a:extLst>
          </p:cNvPr>
          <p:cNvSpPr txBox="1"/>
          <p:nvPr/>
        </p:nvSpPr>
        <p:spPr>
          <a:xfrm>
            <a:off x="468000" y="1383618"/>
            <a:ext cx="756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Modern systems growing log data</a:t>
            </a: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Debugging, monitoring, fault localisation</a:t>
            </a: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Log quality &amp; consistency</a:t>
            </a:r>
          </a:p>
        </p:txBody>
      </p:sp>
    </p:spTree>
    <p:extLst>
      <p:ext uri="{BB962C8B-B14F-4D97-AF65-F5344CB8AC3E}">
        <p14:creationId xmlns:p14="http://schemas.microsoft.com/office/powerpoint/2010/main" val="7966477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59817-02FB-0CAC-DEA8-58F7F5461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E7E88AB-170B-E394-E25F-A13FAFBA0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  <a:t>Research Problem</a:t>
            </a:r>
            <a:endParaRPr lang="en-GB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CFB7CE-9AB8-4489-8D8A-5A6E92A0C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4</a:t>
            </a:fld>
            <a:r>
              <a:rPr lang="en-GB" sz="700" noProof="0" dirty="0"/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AA8BE3-5D1F-6FBC-2653-0EC3FC225240}"/>
              </a:ext>
            </a:extLst>
          </p:cNvPr>
          <p:cNvSpPr txBox="1"/>
          <p:nvPr/>
        </p:nvSpPr>
        <p:spPr>
          <a:xfrm>
            <a:off x="468000" y="1383618"/>
            <a:ext cx="756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Varying logging practices by developers, team, projects</a:t>
            </a: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Inconsistent, incomplete log information</a:t>
            </a: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No structured, traceable guideline catalogue</a:t>
            </a:r>
          </a:p>
        </p:txBody>
      </p:sp>
    </p:spTree>
    <p:extLst>
      <p:ext uri="{BB962C8B-B14F-4D97-AF65-F5344CB8AC3E}">
        <p14:creationId xmlns:p14="http://schemas.microsoft.com/office/powerpoint/2010/main" val="1816762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776B1-28DF-0216-0A5E-28F1C9EDC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DC94EBE-BE7A-0799-2429-EDD672028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  <a:t>Research Question</a:t>
            </a:r>
            <a:b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</a:br>
            <a:endParaRPr lang="en-GB" sz="2700" noProof="0" dirty="0">
              <a:solidFill>
                <a:srgbClr val="17365C"/>
              </a:solidFill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29308E-2BCC-8BFD-0649-D0F24DA40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r>
              <a:rPr lang="en-GB" sz="700" noProof="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AE55AC-5BD2-C00D-BBA3-5C23E370F62E}"/>
              </a:ext>
            </a:extLst>
          </p:cNvPr>
          <p:cNvSpPr txBox="1"/>
          <p:nvPr/>
        </p:nvSpPr>
        <p:spPr>
          <a:xfrm>
            <a:off x="468000" y="1383618"/>
            <a:ext cx="7560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RQ1</a:t>
            </a:r>
            <a:r>
              <a:rPr lang="en-GB" sz="1600" noProof="0" dirty="0">
                <a:solidFill>
                  <a:schemeClr val="tx2"/>
                </a:solidFill>
              </a:rPr>
              <a:t>: What logging practices and challenges do software developers encounter in software development and maintenance?</a:t>
            </a:r>
            <a:br>
              <a:rPr lang="en-GB" sz="1600" noProof="0" dirty="0">
                <a:solidFill>
                  <a:schemeClr val="tx2"/>
                </a:solidFill>
              </a:rPr>
            </a:br>
            <a:r>
              <a:rPr lang="en-GB" sz="1600" noProof="0" dirty="0">
                <a:solidFill>
                  <a:schemeClr val="tx2"/>
                </a:solidFill>
              </a:rPr>
              <a:t>	</a:t>
            </a: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RQ2</a:t>
            </a:r>
            <a:r>
              <a:rPr lang="en-GB" sz="1600" noProof="0" dirty="0">
                <a:solidFill>
                  <a:schemeClr val="tx2"/>
                </a:solidFill>
              </a:rPr>
              <a:t>: What logging guidelines are documented in academic literature?</a:t>
            </a:r>
            <a:br>
              <a:rPr lang="en-GB" sz="1600" noProof="0" dirty="0">
                <a:solidFill>
                  <a:schemeClr val="tx2"/>
                </a:solidFill>
              </a:rPr>
            </a:b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RQ3</a:t>
            </a:r>
            <a:r>
              <a:rPr lang="en-GB" sz="1600" noProof="0" dirty="0">
                <a:solidFill>
                  <a:schemeClr val="tx2"/>
                </a:solidFill>
              </a:rPr>
              <a:t>: What logging guidelines are documented in open-source repositories?</a:t>
            </a:r>
          </a:p>
          <a:p>
            <a:br>
              <a:rPr lang="en-GB" sz="1600" noProof="0" dirty="0">
                <a:solidFill>
                  <a:schemeClr val="tx2"/>
                </a:solidFill>
              </a:rPr>
            </a:b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RQ4</a:t>
            </a:r>
            <a:r>
              <a:rPr lang="en-GB" sz="1600" noProof="0" dirty="0">
                <a:solidFill>
                  <a:schemeClr val="tx2"/>
                </a:solidFill>
              </a:rPr>
              <a:t>: What themes can be identified within the logging guideline catalogue?</a:t>
            </a:r>
            <a:endParaRPr lang="en-GB" sz="12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4996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3BE93-8908-5A12-A2B2-B25487E51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972720D2-3745-8E26-27BB-6E818318A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  <a:t>Research Design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8AC2C54-50CB-F7A2-C1B4-9E5E8EF7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6</a:t>
            </a:fld>
            <a:r>
              <a:rPr lang="en-GB" sz="700" noProof="0" dirty="0"/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BD530F3-2013-8A9E-9CB4-364000E20B04}"/>
              </a:ext>
            </a:extLst>
          </p:cNvPr>
          <p:cNvSpPr/>
          <p:nvPr/>
        </p:nvSpPr>
        <p:spPr>
          <a:xfrm>
            <a:off x="468000" y="1098032"/>
            <a:ext cx="2015768" cy="79208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Developer Study</a:t>
            </a:r>
            <a:br>
              <a:rPr lang="en-GB" noProof="0" dirty="0"/>
            </a:br>
            <a:r>
              <a:rPr lang="en-GB" noProof="0" dirty="0"/>
              <a:t>RQ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73C7DC-F58A-FA85-7FD3-0F8D43A3FEA9}"/>
              </a:ext>
            </a:extLst>
          </p:cNvPr>
          <p:cNvSpPr/>
          <p:nvPr/>
        </p:nvSpPr>
        <p:spPr>
          <a:xfrm>
            <a:off x="3240116" y="1098032"/>
            <a:ext cx="2015768" cy="79208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Academic Literature</a:t>
            </a:r>
            <a:br>
              <a:rPr lang="en-GB" noProof="0" dirty="0"/>
            </a:br>
            <a:r>
              <a:rPr lang="en-GB" noProof="0" dirty="0"/>
              <a:t>Collection</a:t>
            </a:r>
            <a:br>
              <a:rPr lang="en-GB" noProof="0" dirty="0"/>
            </a:br>
            <a:r>
              <a:rPr lang="en-GB" noProof="0" dirty="0"/>
              <a:t>RQ 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D73F06A-CE70-082C-9A72-868076487986}"/>
              </a:ext>
            </a:extLst>
          </p:cNvPr>
          <p:cNvSpPr/>
          <p:nvPr/>
        </p:nvSpPr>
        <p:spPr>
          <a:xfrm>
            <a:off x="6012232" y="1098032"/>
            <a:ext cx="2015768" cy="79208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Open-Source</a:t>
            </a:r>
            <a:br>
              <a:rPr lang="en-GB" noProof="0" dirty="0"/>
            </a:br>
            <a:r>
              <a:rPr lang="en-GB" noProof="0" dirty="0"/>
              <a:t>Collection</a:t>
            </a:r>
            <a:br>
              <a:rPr lang="en-GB" noProof="0" dirty="0"/>
            </a:br>
            <a:r>
              <a:rPr lang="en-GB" noProof="0" dirty="0"/>
              <a:t>RQ 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9798F3D-1740-A753-AF81-8E183E3FB9BF}"/>
              </a:ext>
            </a:extLst>
          </p:cNvPr>
          <p:cNvSpPr/>
          <p:nvPr/>
        </p:nvSpPr>
        <p:spPr>
          <a:xfrm>
            <a:off x="6012232" y="2327992"/>
            <a:ext cx="2015768" cy="79208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Logging Guideline Catalogue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9C563A-C6E4-14DF-3EEC-7D1459B3B168}"/>
              </a:ext>
            </a:extLst>
          </p:cNvPr>
          <p:cNvSpPr/>
          <p:nvPr/>
        </p:nvSpPr>
        <p:spPr>
          <a:xfrm>
            <a:off x="3240116" y="3312140"/>
            <a:ext cx="2015768" cy="792088"/>
          </a:xfrm>
          <a:prstGeom prst="rect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noProof="0" dirty="0"/>
              <a:t>Thematic Analysis</a:t>
            </a:r>
            <a:br>
              <a:rPr lang="en-GB" noProof="0" dirty="0"/>
            </a:br>
            <a:r>
              <a:rPr lang="en-GB" noProof="0" dirty="0"/>
              <a:t>RQ 4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2DA63E5-8BF5-0BC0-58E4-8759E376C5DF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4248000" y="1890120"/>
            <a:ext cx="0" cy="14220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959AC224-571C-0BF8-5B33-515563315350}"/>
              </a:ext>
            </a:extLst>
          </p:cNvPr>
          <p:cNvCxnSpPr>
            <a:stCxn id="9" idx="2"/>
            <a:endCxn id="11" idx="0"/>
          </p:cNvCxnSpPr>
          <p:nvPr/>
        </p:nvCxnSpPr>
        <p:spPr>
          <a:xfrm>
            <a:off x="7020116" y="1890120"/>
            <a:ext cx="0" cy="437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B54B501F-989D-1E7A-D757-FF6F91B55105}"/>
              </a:ext>
            </a:extLst>
          </p:cNvPr>
          <p:cNvCxnSpPr>
            <a:stCxn id="11" idx="2"/>
            <a:endCxn id="13" idx="3"/>
          </p:cNvCxnSpPr>
          <p:nvPr/>
        </p:nvCxnSpPr>
        <p:spPr>
          <a:xfrm rot="5400000">
            <a:off x="5843948" y="2532016"/>
            <a:ext cx="588104" cy="176423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824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A4AE0-EB28-04EA-0699-082339317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DC4050C-2EBF-040B-F4B7-9A73D98E7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  <a:t>Research Design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2B6127-7778-C813-FA51-B92DD875A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7</a:t>
            </a:fld>
            <a:r>
              <a:rPr lang="en-GB" sz="700" noProof="0" dirty="0"/>
              <a:t> 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9749BFD-535B-A71B-3274-1A4C15444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966" y="915566"/>
            <a:ext cx="4040067" cy="3723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925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28B4-B8CA-D91B-D395-CE27F84B0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F9AFC59-A799-A6CD-71A6-A6451996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chemeClr val="tx2"/>
                </a:solidFill>
              </a:rPr>
              <a:t>Methodology: Developer Study (RQ1)</a:t>
            </a:r>
            <a:endParaRPr lang="en-GB" sz="2400" noProof="0" dirty="0">
              <a:solidFill>
                <a:srgbClr val="17365C"/>
              </a:solidFill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3C6674-A251-4CF9-FB52-EDC26AD4C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8</a:t>
            </a:fld>
            <a:r>
              <a:rPr lang="en-GB" sz="700" noProof="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8AB78-18EA-FB8E-528B-3E2050753146}"/>
              </a:ext>
            </a:extLst>
          </p:cNvPr>
          <p:cNvSpPr txBox="1"/>
          <p:nvPr/>
        </p:nvSpPr>
        <p:spPr>
          <a:xfrm>
            <a:off x="468000" y="1383618"/>
            <a:ext cx="7560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Industry survey (aviation)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Voluntary participants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Three fields: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Logging Implementation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Log Analysis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Fault Localisation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Structured &amp; free-text questions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Quantitative frequencies &amp; qualitative response analysis</a:t>
            </a:r>
          </a:p>
        </p:txBody>
      </p:sp>
    </p:spTree>
    <p:extLst>
      <p:ext uri="{BB962C8B-B14F-4D97-AF65-F5344CB8AC3E}">
        <p14:creationId xmlns:p14="http://schemas.microsoft.com/office/powerpoint/2010/main" val="1779437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70CF4-6BCC-7C1F-43E9-DD4C22A9F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BE0857A-CF87-65CA-F17A-82D9EE117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chemeClr val="tx2"/>
                </a:solidFill>
              </a:rPr>
              <a:t>Methodology: Academic Literature Collection (RQ2)</a:t>
            </a:r>
            <a:endParaRPr lang="en-GB" sz="2400" noProof="0" dirty="0">
              <a:solidFill>
                <a:srgbClr val="17365C"/>
              </a:solidFill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CE4F2F-DB8F-1C84-DDCE-7965E991F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9</a:t>
            </a:fld>
            <a:r>
              <a:rPr lang="en-GB" sz="700" noProof="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74B186-E50F-2803-BEAC-B0A6970B96B7}"/>
              </a:ext>
            </a:extLst>
          </p:cNvPr>
          <p:cNvSpPr txBox="1"/>
          <p:nvPr/>
        </p:nvSpPr>
        <p:spPr>
          <a:xfrm>
            <a:off x="468000" y="1383618"/>
            <a:ext cx="7560000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Google Scholar literature search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Search Terms: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2"/>
                </a:solidFill>
              </a:rPr>
              <a:t>Logging Guideline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2"/>
                </a:solidFill>
              </a:rPr>
              <a:t>Logging Practice</a:t>
            </a:r>
            <a:endParaRPr lang="en-GB" sz="1100" noProof="0" dirty="0">
              <a:solidFill>
                <a:schemeClr val="tx2"/>
              </a:solidFill>
            </a:endParaRP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2"/>
                </a:solidFill>
              </a:rPr>
              <a:t>What to Log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2"/>
                </a:solidFill>
              </a:rPr>
              <a:t>Where to Log</a:t>
            </a:r>
            <a:endParaRPr lang="en-GB" sz="1100" noProof="0" dirty="0">
              <a:solidFill>
                <a:schemeClr val="tx2"/>
              </a:solidFill>
            </a:endParaRP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tx2"/>
                </a:solidFill>
              </a:rPr>
              <a:t>How to Log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Publication period: 2020-2026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Backwards snowballing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Extraction of guideline 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Literature-derived deductive codebook</a:t>
            </a:r>
          </a:p>
        </p:txBody>
      </p:sp>
    </p:spTree>
    <p:extLst>
      <p:ext uri="{BB962C8B-B14F-4D97-AF65-F5344CB8AC3E}">
        <p14:creationId xmlns:p14="http://schemas.microsoft.com/office/powerpoint/2010/main" val="3205486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E57F5E-95EA-EB21-6A7A-24736AF7C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3801B06-AD23-75C0-ADDA-D76854A18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776408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chemeClr val="tx2"/>
                </a:solidFill>
              </a:rPr>
              <a:t>Methodology: Open-Source Collection &amp; Extraction(RQ3)</a:t>
            </a:r>
            <a:endParaRPr lang="en-GB" sz="2400" noProof="0" dirty="0">
              <a:solidFill>
                <a:srgbClr val="17365C"/>
              </a:solidFill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1D054D4-F6FA-2725-F2AB-F7604B90E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r>
              <a:rPr lang="en-GB" sz="700" noProof="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318FE2-299D-C379-E19D-EEF12DCF11CD}"/>
              </a:ext>
            </a:extLst>
          </p:cNvPr>
          <p:cNvSpPr txBox="1"/>
          <p:nvPr/>
        </p:nvSpPr>
        <p:spPr>
          <a:xfrm>
            <a:off x="468000" y="1383618"/>
            <a:ext cx="75600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Repository Collection: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GitHub search queries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Metadata collection 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Duplication, similarity check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Guideline Extraction: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AI-assisted identification by XML tagging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Python structured content extraction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Contextual content tags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Guideline formulation &amp; normalisation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Manual review &amp; source traceability</a:t>
            </a:r>
          </a:p>
        </p:txBody>
      </p:sp>
    </p:spTree>
    <p:extLst>
      <p:ext uri="{BB962C8B-B14F-4D97-AF65-F5344CB8AC3E}">
        <p14:creationId xmlns:p14="http://schemas.microsoft.com/office/powerpoint/2010/main" val="3810624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44623-B723-5EA9-0628-493C886D0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79358AF-102C-911A-1781-40A0F83AC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776408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chemeClr val="tx2"/>
                </a:solidFill>
              </a:rPr>
              <a:t>Methodology: Thematic Classification (RQ4)</a:t>
            </a:r>
            <a:endParaRPr lang="en-GB" sz="2400" noProof="0" dirty="0">
              <a:solidFill>
                <a:srgbClr val="17365C"/>
              </a:solidFill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229AD57-C755-8405-2BB9-9CCB2C9AC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11</a:t>
            </a:fld>
            <a:r>
              <a:rPr lang="en-GB" sz="700" noProof="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5ED5A5-7D25-6318-9743-D92034BBE141}"/>
              </a:ext>
            </a:extLst>
          </p:cNvPr>
          <p:cNvSpPr txBox="1"/>
          <p:nvPr/>
        </p:nvSpPr>
        <p:spPr>
          <a:xfrm>
            <a:off x="468000" y="1383618"/>
            <a:ext cx="756000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Deductive-Inductive Classification: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Literature-derived initial codebook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Inductive themes from guideline content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Theme refinement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Semantic Consolidation: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Equivalent recommendations grouped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Unique conditions &amp; recommendations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Source to canonical mappings</a:t>
            </a:r>
          </a:p>
        </p:txBody>
      </p:sp>
    </p:spTree>
    <p:extLst>
      <p:ext uri="{BB962C8B-B14F-4D97-AF65-F5344CB8AC3E}">
        <p14:creationId xmlns:p14="http://schemas.microsoft.com/office/powerpoint/2010/main" val="2389287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24D0D-BBAF-96BA-FED1-9FBAEFB7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6C77CC-CA98-B7F8-3202-3DBEE9DF6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chemeClr val="tx2"/>
                </a:solidFill>
              </a:rPr>
              <a:t>Methodology: Validation</a:t>
            </a:r>
            <a:endParaRPr lang="en-GB" sz="2400" noProof="0" dirty="0">
              <a:solidFill>
                <a:srgbClr val="17365C"/>
              </a:solidFill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41448FA-305C-6FA1-FD30-5D7208822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12</a:t>
            </a:fld>
            <a:r>
              <a:rPr lang="en-GB" sz="700" noProof="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FAC34-E5C1-629A-9AB8-00E31AC213E0}"/>
              </a:ext>
            </a:extLst>
          </p:cNvPr>
          <p:cNvSpPr txBox="1"/>
          <p:nvPr/>
        </p:nvSpPr>
        <p:spPr>
          <a:xfrm>
            <a:off x="468000" y="1383618"/>
            <a:ext cx="410400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1600" b="1" noProof="0" dirty="0">
                <a:solidFill>
                  <a:schemeClr val="tx2"/>
                </a:solidFill>
              </a:rPr>
              <a:t>XML &amp; Extraction</a:t>
            </a:r>
            <a:r>
              <a:rPr lang="en-GB" sz="1600" noProof="0" dirty="0">
                <a:solidFill>
                  <a:schemeClr val="tx2"/>
                </a:solidFill>
              </a:rPr>
              <a:t>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XML structure, tag consistency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Manual review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Untagged files</a:t>
            </a:r>
          </a:p>
          <a:p>
            <a:pPr lvl="1"/>
            <a:endParaRPr lang="en-GB" sz="1400" noProof="0" dirty="0">
              <a:solidFill>
                <a:schemeClr val="tx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GB" sz="1600" b="1" noProof="0" dirty="0">
                <a:solidFill>
                  <a:schemeClr val="tx2"/>
                </a:solidFill>
              </a:rPr>
              <a:t>Guideline Normalisation</a:t>
            </a:r>
            <a:r>
              <a:rPr lang="en-GB" sz="1600" noProof="0" dirty="0">
                <a:solidFill>
                  <a:schemeClr val="tx2"/>
                </a:solidFill>
              </a:rPr>
              <a:t>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Random sample 10% (234)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Original Content &amp; Content Tag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Meaning, condition &amp; unsupported information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i="1" noProof="0" dirty="0">
                <a:solidFill>
                  <a:schemeClr val="tx2"/>
                </a:solidFill>
              </a:rPr>
              <a:t>NO_GUIDELINE </a:t>
            </a:r>
            <a:r>
              <a:rPr lang="en-GB" sz="1400" noProof="0" dirty="0">
                <a:solidFill>
                  <a:schemeClr val="tx2"/>
                </a:solidFill>
              </a:rPr>
              <a:t>tags</a:t>
            </a:r>
            <a:endParaRPr lang="en-GB" sz="1400" i="1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noProof="0" dirty="0">
              <a:solidFill>
                <a:schemeClr val="tx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DDAAD5-5F80-4CE3-0D71-B24D73013158}"/>
              </a:ext>
            </a:extLst>
          </p:cNvPr>
          <p:cNvSpPr txBox="1"/>
          <p:nvPr/>
        </p:nvSpPr>
        <p:spPr>
          <a:xfrm>
            <a:off x="4572000" y="1381122"/>
            <a:ext cx="41040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en-GB" sz="1600" b="1" dirty="0">
                <a:solidFill>
                  <a:schemeClr val="tx2"/>
                </a:solidFill>
              </a:rPr>
              <a:t>Thematic Classification</a:t>
            </a:r>
            <a:r>
              <a:rPr lang="en-GB" sz="1600" dirty="0">
                <a:solidFill>
                  <a:schemeClr val="tx2"/>
                </a:solidFill>
              </a:rPr>
              <a:t>: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Theme assignments with final codebook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Themes re-examined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Misclassification &amp; recurring pattern corrected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tx2"/>
              </a:solidFill>
            </a:endParaRPr>
          </a:p>
          <a:p>
            <a:pPr marL="342900" indent="-342900">
              <a:buFont typeface="+mj-lt"/>
              <a:buAutoNum type="arabicPeriod" startAt="4"/>
            </a:pPr>
            <a:r>
              <a:rPr lang="en-GB" sz="1600" b="1" dirty="0">
                <a:solidFill>
                  <a:schemeClr val="tx2"/>
                </a:solidFill>
              </a:rPr>
              <a:t>Semantic Consolidation &amp; Traceability: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Semantic equivalence &amp; unique condition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Incorrect merged guideline separated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Source-level guideline in canonical guideline</a:t>
            </a:r>
          </a:p>
          <a:p>
            <a:pPr marL="685800" lvl="1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Retain original source content</a:t>
            </a:r>
          </a:p>
          <a:p>
            <a:pPr marL="342900" indent="-342900">
              <a:buFont typeface="+mj-lt"/>
              <a:buAutoNum type="arabicPeriod" startAt="4"/>
            </a:pPr>
            <a:endParaRPr lang="en-GB" sz="1400" dirty="0">
              <a:solidFill>
                <a:schemeClr val="tx2"/>
              </a:solidFill>
            </a:endParaRPr>
          </a:p>
          <a:p>
            <a:endParaRPr lang="en-GB" sz="14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9923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B7A4C-8521-9A03-9B95-A325F182C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3B8513E-B199-786C-FC44-8E13C797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chemeClr val="tx2"/>
                </a:solidFill>
              </a:rPr>
              <a:t>Research Results</a:t>
            </a:r>
            <a:endParaRPr lang="en-GB" sz="2400" noProof="0" dirty="0">
              <a:solidFill>
                <a:srgbClr val="17365C"/>
              </a:solidFill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B32EA0-3650-45E1-7BD5-1A18D4B6E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r>
              <a:rPr lang="en-GB" sz="700" noProof="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31233-F334-D19C-9A65-B23A4D62FEBD}"/>
              </a:ext>
            </a:extLst>
          </p:cNvPr>
          <p:cNvSpPr txBox="1"/>
          <p:nvPr/>
        </p:nvSpPr>
        <p:spPr>
          <a:xfrm>
            <a:off x="468000" y="1383618"/>
            <a:ext cx="7560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RQ1: Developer Practices &amp; Challenges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RQ2: Academic Logging Practices and Guidelines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</a:rPr>
              <a:t>RQ3: Open-Source Logging Guideline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</a:rPr>
              <a:t>RQ4: Themes within the Guideline Catalogue</a:t>
            </a:r>
            <a:endParaRPr lang="en-GB" sz="12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9500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 nodePh="1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DD7C0E3-693D-9F3D-EEF4-4CDE033F6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AE1FAE4-21A8-2822-9E6D-AE993034D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 anchor="t">
            <a:normAutofit/>
          </a:bodyPr>
          <a:lstStyle/>
          <a:p>
            <a:pPr lvl="2" algn="l"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chemeClr val="tx2"/>
                </a:solidFill>
              </a:rPr>
              <a:t>Logging Implementation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79052D7E-0D2B-0011-0240-048B3C84E9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045924"/>
              </p:ext>
            </p:extLst>
          </p:nvPr>
        </p:nvGraphicFramePr>
        <p:xfrm>
          <a:off x="5220072" y="1446530"/>
          <a:ext cx="3421060" cy="2250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212">
                  <a:extLst>
                    <a:ext uri="{9D8B030D-6E8A-4147-A177-3AD203B41FA5}">
                      <a16:colId xmlns:a16="http://schemas.microsoft.com/office/drawing/2014/main" val="1629278236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1904591729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3653050221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148611061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3805172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Strongly disagree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disagree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Neutral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Agree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Strongly agree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345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12.5%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12.5%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25%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50%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5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62.5%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25%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12.5%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092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50%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37.5%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12.5%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36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12.5%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37.5%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37.5%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12.5%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2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12.5%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37.5%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12.5%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37.5%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925218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7C067CE-63FF-FB4C-A248-7DAD84D60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14</a:t>
            </a:fld>
            <a:r>
              <a:rPr lang="en-GB" sz="700" noProof="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1A8264-C59E-FDFF-8ECC-3D287A774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" y="1275255"/>
            <a:ext cx="4025619" cy="31299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066078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B592EEB-D277-E595-B638-CF61F3450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168C1B2-2783-501B-E66D-5CC6318E6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  <a:t>Logging Implementation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98FEF2-DC64-474E-BA9A-E6E70D95A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15</a:t>
            </a:fld>
            <a:r>
              <a:rPr lang="en-GB" sz="700" noProof="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1ADA14-7C36-4C8C-F4AC-4AECED25016F}"/>
              </a:ext>
            </a:extLst>
          </p:cNvPr>
          <p:cNvSpPr txBox="1"/>
          <p:nvPr/>
        </p:nvSpPr>
        <p:spPr>
          <a:xfrm>
            <a:off x="468000" y="1383618"/>
            <a:ext cx="7560000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Practices: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Event reporting, state dumps &amp; execution tracing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Structured, readable &amp; consistent log messages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Framework usage &amp; component-level logging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Relevant context, input &amp; output information</a:t>
            </a: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Challenges: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Log content selection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Excessive vs insufficient logging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Logging performance costs</a:t>
            </a: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2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314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E3BC8B3-0B45-96E2-941C-153C8610D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BAE1697-F66E-21A9-03F1-140564FD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 anchor="t">
            <a:normAutofit/>
          </a:bodyPr>
          <a:lstStyle/>
          <a:p>
            <a:pPr lvl="2" algn="l"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chemeClr val="tx2"/>
                </a:solidFill>
              </a:rPr>
              <a:t>Log Analysis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0CE22597-C7D0-9BE2-2692-D2BBD03639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6109568"/>
              </p:ext>
            </p:extLst>
          </p:nvPr>
        </p:nvGraphicFramePr>
        <p:xfrm>
          <a:off x="5220072" y="1446530"/>
          <a:ext cx="3421060" cy="1879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212">
                  <a:extLst>
                    <a:ext uri="{9D8B030D-6E8A-4147-A177-3AD203B41FA5}">
                      <a16:colId xmlns:a16="http://schemas.microsoft.com/office/drawing/2014/main" val="1629278236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1904591729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3653050221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148611061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3805172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Strongly disagree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disagree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Neutral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Agree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Strongly agree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345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16.6%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33.3%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33.3%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16.6%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5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14.29%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14.29%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14.29%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57.1%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092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14.29%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28.6%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42.9%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14%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36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14.29%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28.6%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42.9%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14%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2067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3673F4-60D9-0038-A06B-4757DA93F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16</a:t>
            </a:fld>
            <a:r>
              <a:rPr lang="en-GB" sz="700" noProof="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AA0469-F298-B34D-1A5D-999EC4814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59" y="1312585"/>
            <a:ext cx="4516322" cy="2555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4971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95AB52D-BA22-AEBD-8D69-1D9D6F391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308E061-9943-D90C-D4F5-6D3E64207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chemeClr val="tx2"/>
                </a:solidFill>
              </a:rPr>
              <a:t>Log Analysis</a:t>
            </a:r>
            <a:endParaRPr lang="en-GB" sz="2400" noProof="0" dirty="0">
              <a:solidFill>
                <a:srgbClr val="17365C"/>
              </a:solidFill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1FFC50-A7F7-3166-CA21-748F8DF82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17</a:t>
            </a:fld>
            <a:r>
              <a:rPr lang="en-GB" sz="700" noProof="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A59E0-6C41-A910-1BB1-FC4220FC04EA}"/>
              </a:ext>
            </a:extLst>
          </p:cNvPr>
          <p:cNvSpPr txBox="1"/>
          <p:nvPr/>
        </p:nvSpPr>
        <p:spPr>
          <a:xfrm>
            <a:off x="468000" y="1383618"/>
            <a:ext cx="7560000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Practices: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Debugging, failure identification &amp; fault localisation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Searching error messages, timestamps &amp; keywords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Relating logs to source code &amp; execution flow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Analysing system states, inputs &amp; outputs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Using documentation, developer knowledge &amp; collaboration</a:t>
            </a: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Challenges: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Overwhelming log information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Interpreting unfamiliar logs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Missing or inconsistent contextual information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Understanding logs across different components</a:t>
            </a: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2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37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2269436-AE99-7BBD-A7AB-F719B3B43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BD49D33-4C1A-B84F-0429-CFE4AA30A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 anchor="t">
            <a:normAutofit/>
          </a:bodyPr>
          <a:lstStyle/>
          <a:p>
            <a:pPr lvl="2" algn="l"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chemeClr val="tx2"/>
                </a:solidFill>
              </a:rPr>
              <a:t>Fault Localisation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152D052A-C6AC-7965-C44D-E8401CC3C3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7510052"/>
              </p:ext>
            </p:extLst>
          </p:nvPr>
        </p:nvGraphicFramePr>
        <p:xfrm>
          <a:off x="5254940" y="704850"/>
          <a:ext cx="3421060" cy="3733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212">
                  <a:extLst>
                    <a:ext uri="{9D8B030D-6E8A-4147-A177-3AD203B41FA5}">
                      <a16:colId xmlns:a16="http://schemas.microsoft.com/office/drawing/2014/main" val="1629278236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1904591729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3653050221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148611061"/>
                    </a:ext>
                  </a:extLst>
                </a:gridCol>
                <a:gridCol w="684212">
                  <a:extLst>
                    <a:ext uri="{9D8B030D-6E8A-4147-A177-3AD203B41FA5}">
                      <a16:colId xmlns:a16="http://schemas.microsoft.com/office/drawing/2014/main" val="38051728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Strongly disagree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disagree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Neutral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Agree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000" noProof="0" dirty="0"/>
                        <a:t>Strongly agree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3457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16.7%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33.3%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33.3%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17%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458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16.7%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83.3%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092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50%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16.7%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33.3%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4364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28.6%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42.9%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17%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9020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16.7%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16.7%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16.7%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33.3%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noProof="0" dirty="0"/>
                        <a:t>17%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4331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16.7%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66.7%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noProof="0" dirty="0"/>
                        <a:t>17%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1108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16.7%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33.3%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50%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0870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16.7%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50%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33.3%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854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B3B3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FFB4B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0%</a:t>
                      </a:r>
                    </a:p>
                  </a:txBody>
                  <a:tcPr>
                    <a:solidFill>
                      <a:srgbClr val="ECD9C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>
                          <a:highlight>
                            <a:srgbClr val="FFFF00"/>
                          </a:highlight>
                        </a:rPr>
                        <a:t>66.7%</a:t>
                      </a:r>
                    </a:p>
                  </a:txBody>
                  <a:tcP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noProof="0" dirty="0"/>
                        <a:t>33%</a:t>
                      </a:r>
                    </a:p>
                  </a:txBody>
                  <a:tcPr>
                    <a:solidFill>
                      <a:srgbClr val="CC33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475163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1B2485-DD8C-9831-59F7-2C1F4DBB1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18</a:t>
            </a:fld>
            <a:r>
              <a:rPr lang="en-GB" sz="700" noProof="0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89B71-1BD7-5E29-D454-E003FCBA20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59" y="1312585"/>
            <a:ext cx="4516322" cy="255566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3D6F72B-4F06-D9F7-CC8A-B1BC1B255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000" y="1062374"/>
            <a:ext cx="4798291" cy="33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716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28F366-E419-0B85-25DA-53416BBCF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AC09541-7EC9-13C6-D5E6-30C8FE1E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  <a:t>Fault Localisation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05BFB4-4B25-5CBE-0C14-4781AFDE7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19</a:t>
            </a:fld>
            <a:r>
              <a:rPr lang="en-GB" sz="700" noProof="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D4696B-4177-2B5C-633D-D1AA839AFB44}"/>
              </a:ext>
            </a:extLst>
          </p:cNvPr>
          <p:cNvSpPr txBox="1"/>
          <p:nvPr/>
        </p:nvSpPr>
        <p:spPr>
          <a:xfrm>
            <a:off x="468000" y="1383618"/>
            <a:ext cx="7560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Practices: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Tracing failures back to underlying causes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Identifying affected components through logs &amp; source code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Combining logs with additional technical information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Cross-component analysis &amp; developer collaboration</a:t>
            </a: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Challenges: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Complex cross-component interaction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Repeated analysis of log information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Dependency on architecture &amp; project knowledge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Insufficient or irrelevant log information</a:t>
            </a:r>
            <a:endParaRPr lang="en-GB" sz="12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469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2C23D-7470-1E16-C185-D3227AE6B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DB9FF01A-1334-C87F-8153-3A21ED763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848416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  <a:t>Results: Developer Practices &amp; Challenges (RQ1)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8C27FC-B953-0DE9-C617-3599FAA17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20</a:t>
            </a:fld>
            <a:r>
              <a:rPr lang="en-GB" sz="700" noProof="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2EDD41-6D94-F5AD-02BB-98A47EF34C9D}"/>
              </a:ext>
            </a:extLst>
          </p:cNvPr>
          <p:cNvSpPr txBox="1"/>
          <p:nvPr/>
        </p:nvSpPr>
        <p:spPr>
          <a:xfrm>
            <a:off x="468000" y="1383618"/>
            <a:ext cx="756000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Logging Implementation: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Practices</a:t>
            </a:r>
            <a:r>
              <a:rPr lang="en-GB" sz="1400" dirty="0">
                <a:solidFill>
                  <a:schemeClr val="tx2"/>
                </a:solidFill>
              </a:rPr>
              <a:t>: Event reporting, state dumps &amp; execution tracing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Challenges: </a:t>
            </a:r>
            <a:r>
              <a:rPr lang="en-US" sz="1400" dirty="0">
                <a:solidFill>
                  <a:schemeClr val="tx2"/>
                </a:solidFill>
              </a:rPr>
              <a:t>Log content selection, logging performance overhead</a:t>
            </a:r>
            <a:br>
              <a:rPr lang="en-GB" sz="1600" noProof="0" dirty="0">
                <a:solidFill>
                  <a:schemeClr val="tx2"/>
                </a:solidFill>
              </a:rPr>
            </a:br>
            <a:r>
              <a:rPr lang="en-GB" sz="1600" noProof="0" dirty="0">
                <a:solidFill>
                  <a:schemeClr val="tx2"/>
                </a:solidFill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Log Analysis: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Practices: </a:t>
            </a:r>
            <a:r>
              <a:rPr lang="en-US" sz="1400" dirty="0">
                <a:solidFill>
                  <a:schemeClr val="tx2"/>
                </a:solidFill>
              </a:rPr>
              <a:t>Debugging, error searches &amp; execution tracing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Challenges: Information overload, unfamiliar log interpretation</a:t>
            </a:r>
            <a:endParaRPr lang="en-GB" sz="140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GB" sz="1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Fault Localisation: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Practices: </a:t>
            </a:r>
            <a:r>
              <a:rPr lang="fr-FR" sz="1400" dirty="0">
                <a:solidFill>
                  <a:schemeClr val="tx2"/>
                </a:solidFill>
              </a:rPr>
              <a:t>Tracing </a:t>
            </a:r>
            <a:r>
              <a:rPr lang="fr-FR" sz="1400" dirty="0" err="1">
                <a:solidFill>
                  <a:schemeClr val="tx2"/>
                </a:solidFill>
              </a:rPr>
              <a:t>failures</a:t>
            </a:r>
            <a:r>
              <a:rPr lang="fr-FR" sz="1400" dirty="0">
                <a:solidFill>
                  <a:schemeClr val="tx2"/>
                </a:solidFill>
              </a:rPr>
              <a:t>, source-code inspection &amp; collaboration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fr-FR" sz="1400" dirty="0">
                <a:solidFill>
                  <a:schemeClr val="tx2"/>
                </a:solidFill>
              </a:rPr>
              <a:t>Challenges: Cross-component interactions, </a:t>
            </a:r>
            <a:r>
              <a:rPr lang="fr-FR" sz="1400" dirty="0" err="1">
                <a:solidFill>
                  <a:schemeClr val="tx2"/>
                </a:solidFill>
              </a:rPr>
              <a:t>missing</a:t>
            </a:r>
            <a:r>
              <a:rPr lang="fr-FR" sz="1400" dirty="0">
                <a:solidFill>
                  <a:schemeClr val="tx2"/>
                </a:solidFill>
              </a:rPr>
              <a:t> </a:t>
            </a:r>
            <a:r>
              <a:rPr lang="fr-FR" sz="1400" dirty="0" err="1">
                <a:solidFill>
                  <a:schemeClr val="tx2"/>
                </a:solidFill>
              </a:rPr>
              <a:t>contextual</a:t>
            </a:r>
            <a:r>
              <a:rPr lang="fr-FR" sz="1400" dirty="0">
                <a:solidFill>
                  <a:schemeClr val="tx2"/>
                </a:solidFill>
              </a:rPr>
              <a:t> information</a:t>
            </a:r>
            <a:endParaRPr lang="en-GB" sz="140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GB" sz="14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962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04019-372F-AE95-C9B7-74BEE3A98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2C9C62C-8F28-7106-761C-A9D68DD42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848416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  <a:t>Results: Logging Guidelines in Academic Literature (RQ2)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9C1AA2-27FA-7A39-F15A-792341453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21</a:t>
            </a:fld>
            <a:r>
              <a:rPr lang="en-GB" sz="700" noProof="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C01424-86B2-9BC4-C271-E647678FD76C}"/>
              </a:ext>
            </a:extLst>
          </p:cNvPr>
          <p:cNvSpPr txBox="1"/>
          <p:nvPr/>
        </p:nvSpPr>
        <p:spPr>
          <a:xfrm>
            <a:off x="468000" y="1383618"/>
            <a:ext cx="75600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Literature Collection: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Google Scholar search &amp; backward snowballing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31 relevant academic publications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7 supporting logging tools</a:t>
            </a:r>
            <a:br>
              <a:rPr lang="en-GB" sz="1600" noProof="0" dirty="0">
                <a:solidFill>
                  <a:schemeClr val="tx2"/>
                </a:solidFill>
              </a:rPr>
            </a:br>
            <a:r>
              <a:rPr lang="en-GB" sz="1600" noProof="0" dirty="0">
                <a:solidFill>
                  <a:schemeClr val="tx2"/>
                </a:solidFill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Main Findings: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Actionable recommendations across four logging dimensions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Literature-derived classification with 17 deductive themes</a:t>
            </a:r>
          </a:p>
        </p:txBody>
      </p:sp>
    </p:spTree>
    <p:extLst>
      <p:ext uri="{BB962C8B-B14F-4D97-AF65-F5344CB8AC3E}">
        <p14:creationId xmlns:p14="http://schemas.microsoft.com/office/powerpoint/2010/main" val="3999244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24C33271-8BC4-3F68-9DA4-C58ADC0FA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4C2D9AF-E405-6DDF-540B-F9CA46062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  <a:t>Literature-Derived Classification (RQ2)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8FD10F-C1D7-7F0D-B2F6-0C9A7EF58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22</a:t>
            </a:fld>
            <a:r>
              <a:rPr lang="en-GB" sz="700" noProof="0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B0A103-AE2D-73A1-3444-01A88A6CD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7371" y="1059582"/>
            <a:ext cx="5801258" cy="332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98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B82BBCA-EF7E-5879-8145-F2DABEA70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F5F0238-EAA8-6577-17A1-763C0C669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  <a:t>GitHub Search Strategy (RQ3)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8715F5-F34B-0B40-5F82-15BEAE308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23</a:t>
            </a:fld>
            <a:r>
              <a:rPr lang="en-GB" sz="700" noProof="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447205-610C-3D11-968B-CB0504E5FED0}"/>
              </a:ext>
            </a:extLst>
          </p:cNvPr>
          <p:cNvSpPr txBox="1"/>
          <p:nvPr/>
        </p:nvSpPr>
        <p:spPr>
          <a:xfrm>
            <a:off x="468000" y="1383618"/>
            <a:ext cx="4104000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General logging guideline</a:t>
            </a:r>
          </a:p>
          <a:p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Log content &amp; severity levels</a:t>
            </a:r>
          </a:p>
          <a:p>
            <a:endParaRPr lang="en-GB" sz="14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Engineering standards &amp; conventions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Structured logging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Security &amp; sensitive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noProof="0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B1CF9E-39ED-95B2-4B02-DE8653950200}"/>
              </a:ext>
            </a:extLst>
          </p:cNvPr>
          <p:cNvSpPr txBox="1"/>
          <p:nvPr/>
        </p:nvSpPr>
        <p:spPr>
          <a:xfrm>
            <a:off x="468000" y="929434"/>
            <a:ext cx="8208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 noProof="0" dirty="0">
                <a:solidFill>
                  <a:schemeClr val="tx2"/>
                </a:solidFill>
              </a:rPr>
              <a:t>10 Search Queries: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5CC043-C7D6-E896-FF5F-22B0D02B6F03}"/>
              </a:ext>
            </a:extLst>
          </p:cNvPr>
          <p:cNvSpPr txBox="1"/>
          <p:nvPr/>
        </p:nvSpPr>
        <p:spPr>
          <a:xfrm>
            <a:off x="4572000" y="1381122"/>
            <a:ext cx="41040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Log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Programming language-related</a:t>
            </a:r>
          </a:p>
          <a:p>
            <a:endParaRPr lang="en-GB" sz="14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Markdown-based documentation</a:t>
            </a:r>
          </a:p>
          <a:p>
            <a:endParaRPr lang="en-GB" sz="14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Observability, telemetry, diagnostics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Logging anti-patterns</a:t>
            </a:r>
          </a:p>
        </p:txBody>
      </p:sp>
    </p:spTree>
    <p:extLst>
      <p:ext uri="{BB962C8B-B14F-4D97-AF65-F5344CB8AC3E}">
        <p14:creationId xmlns:p14="http://schemas.microsoft.com/office/powerpoint/2010/main" val="3169901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B8B86-A8F7-0A08-43C1-AA51696E7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8E7ADBA-7F53-5F40-7E4D-AE319B734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  <a:t>Open-Source Repository Collection (RQ3)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573AA4-B359-C5AB-8E80-D2C4A29B6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24</a:t>
            </a:fld>
            <a:r>
              <a:rPr lang="en-GB" sz="700" noProof="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BE1955-B727-0C1E-CD7E-B1B08DDFC859}"/>
              </a:ext>
            </a:extLst>
          </p:cNvPr>
          <p:cNvSpPr txBox="1"/>
          <p:nvPr/>
        </p:nvSpPr>
        <p:spPr>
          <a:xfrm>
            <a:off x="468000" y="1383618"/>
            <a:ext cx="756000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Collection: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10 GitHub search queries (966 total)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895 Unique repositories identified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229 Source files retained</a:t>
            </a:r>
            <a:br>
              <a:rPr lang="en-GB" sz="1600" noProof="0" dirty="0">
                <a:solidFill>
                  <a:schemeClr val="tx2"/>
                </a:solidFill>
              </a:rPr>
            </a:br>
            <a:r>
              <a:rPr lang="en-GB" sz="1600" noProof="0" dirty="0">
                <a:solidFill>
                  <a:schemeClr val="tx2"/>
                </a:solidFill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Preparation: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Repository metadata collection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Duplicate detection &amp; source relevance review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File-level similarity checks &amp; source cleaning</a:t>
            </a:r>
          </a:p>
        </p:txBody>
      </p:sp>
    </p:spTree>
    <p:extLst>
      <p:ext uri="{BB962C8B-B14F-4D97-AF65-F5344CB8AC3E}">
        <p14:creationId xmlns:p14="http://schemas.microsoft.com/office/powerpoint/2010/main" val="211004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A61E2B7F-3F9D-48B5-2B8F-A7E6A3F29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32E6D110-9A89-D128-2FC0-9939FADD4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365B"/>
                </a:solidFill>
              </a:rPr>
              <a:t>Repository Collection (RQ3)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6D129A-BE4C-6324-DC5E-0D91057DBB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796" y="853128"/>
            <a:ext cx="6684407" cy="3437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1862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474F6-D39F-FA7E-8472-08DA66A64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213A83B1-5A84-B476-AF1A-7528A7E9F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365B"/>
                </a:solidFill>
              </a:rPr>
              <a:t>Guideline Extraction &amp; Normalisation (RQ3)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5CC922-61E5-F1A2-A2D9-A7C83AEEC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133" y="988183"/>
            <a:ext cx="6573733" cy="3167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770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noProof="0" dirty="0">
                <a:solidFill>
                  <a:srgbClr val="0B365B"/>
                </a:solidFill>
                <a:latin typeface="Arial"/>
              </a:rPr>
              <a:t>Deductive</a:t>
            </a:r>
            <a:r>
              <a:rPr lang="en-GB" sz="2600" dirty="0">
                <a:solidFill>
                  <a:srgbClr val="0B365B"/>
                </a:solidFill>
                <a:latin typeface="Arial"/>
              </a:rPr>
              <a:t>-</a:t>
            </a:r>
            <a:r>
              <a:rPr lang="en-GB" sz="2600" noProof="0" dirty="0">
                <a:solidFill>
                  <a:srgbClr val="0B365B"/>
                </a:solidFill>
                <a:latin typeface="Arial"/>
              </a:rPr>
              <a:t>Inductive Thematic Classification (RQ4)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8ED0BF4-6529-961C-E10B-C2424B025664}"/>
              </a:ext>
            </a:extLst>
          </p:cNvPr>
          <p:cNvSpPr txBox="1"/>
          <p:nvPr/>
        </p:nvSpPr>
        <p:spPr>
          <a:xfrm>
            <a:off x="468000" y="1383618"/>
            <a:ext cx="7560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</a:rPr>
              <a:t>Deductive Codebook</a:t>
            </a:r>
            <a:r>
              <a:rPr lang="en-GB" sz="1600" noProof="0" dirty="0">
                <a:solidFill>
                  <a:schemeClr val="tx2"/>
                </a:solidFill>
              </a:rPr>
              <a:t>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B365B"/>
                </a:solidFill>
              </a:rPr>
              <a:t>17 literature-derived themes in 4 dimensions</a:t>
            </a:r>
            <a:br>
              <a:rPr lang="en-GB" sz="1600" noProof="0" dirty="0">
                <a:solidFill>
                  <a:schemeClr val="tx2"/>
                </a:solidFill>
              </a:rPr>
            </a:br>
            <a:r>
              <a:rPr lang="en-GB" sz="1600" noProof="0" dirty="0">
                <a:solidFill>
                  <a:schemeClr val="tx2"/>
                </a:solidFill>
              </a:rPr>
              <a:t>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Open-Source Catalogue 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B365B"/>
                </a:solidFill>
              </a:rPr>
              <a:t>Normalised guideline content and source context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</a:rPr>
              <a:t>AI-Assisted mapping: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Deductive codebook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Inductive codebook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Final Theme codebook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0B365B"/>
                </a:solidFill>
              </a:rPr>
              <a:t>28 themes: 17 deductive · 11 inductive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GB" sz="1600" noProof="0" dirty="0">
              <a:solidFill>
                <a:schemeClr val="tx2"/>
              </a:solidFill>
            </a:endParaRPr>
          </a:p>
          <a:p>
            <a:pPr lvl="1"/>
            <a:endParaRPr lang="en-GB" sz="1400" noProof="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noProof="0" dirty="0">
                <a:solidFill>
                  <a:srgbClr val="0B365B"/>
                </a:solidFill>
                <a:latin typeface="Arial"/>
              </a:rPr>
              <a:t>Thematic Catalogue Dimension Distribution (RQ4)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B181579-8A58-BCCE-2BE1-6E50AD70F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491" y="890551"/>
            <a:ext cx="6639018" cy="168119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0051902-DF1D-3CDF-A54F-464B0446BE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9" y="2427734"/>
            <a:ext cx="3410954" cy="9361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4F9B22-3597-0F96-C1C8-0692F1BECB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6301" y="2461074"/>
            <a:ext cx="3228192" cy="16386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24B786-F5B0-DAA8-D961-3781D9AD4B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529" y="3374886"/>
            <a:ext cx="3645464" cy="125556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D1489-D156-3D0A-C42E-234BCF3B2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F23BD-1C3F-6190-C6A6-27B6F7F9B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noProof="0" dirty="0">
                <a:solidFill>
                  <a:srgbClr val="0B365B"/>
                </a:solidFill>
                <a:latin typeface="Arial"/>
              </a:rPr>
              <a:t>Thematic Catalogue Dimension Distribution (RQ4)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F6D5F1-71AE-B968-1215-80E51618C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4438" y="864000"/>
            <a:ext cx="3607124" cy="377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822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1DFD5D-AF70-D825-C4C0-FE5B0DC22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97C9E-E83B-D05E-1A80-03751D94A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dirty="0">
                <a:solidFill>
                  <a:srgbClr val="0B365B"/>
                </a:solidFill>
              </a:rPr>
              <a:t>Final Thematic Findings (RQ4)</a:t>
            </a:r>
            <a:endParaRPr lang="en-GB" sz="2600" noProof="0" dirty="0">
              <a:solidFill>
                <a:srgbClr val="0B365B"/>
              </a:solidFill>
              <a:latin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48A642-AEF4-F276-B57B-A19C34514DA8}"/>
              </a:ext>
            </a:extLst>
          </p:cNvPr>
          <p:cNvSpPr txBox="1"/>
          <p:nvPr/>
        </p:nvSpPr>
        <p:spPr>
          <a:xfrm>
            <a:off x="468000" y="1383618"/>
            <a:ext cx="7560000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28 themes: 17 deductive &amp; 11 inductive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B365B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27 themes observed, Assertion-check logging not identified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B365B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Logging approach: 794 -&gt; 374 (source level)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B365B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Logging approach: 360 canonical guidelines</a:t>
            </a:r>
          </a:p>
          <a:p>
            <a:pPr>
              <a:spcAft>
                <a:spcPts val="300"/>
              </a:spcAft>
            </a:pPr>
            <a:endParaRPr lang="en-GB" sz="1600" dirty="0">
              <a:solidFill>
                <a:srgbClr val="0B365B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2127 canonical guidelines</a:t>
            </a:r>
          </a:p>
        </p:txBody>
      </p:sp>
    </p:spTree>
    <p:extLst>
      <p:ext uri="{BB962C8B-B14F-4D97-AF65-F5344CB8AC3E}">
        <p14:creationId xmlns:p14="http://schemas.microsoft.com/office/powerpoint/2010/main" val="497033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615BDDB-2277-862A-25CD-A5C274F6D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EF8B73B-1D9D-6278-7933-6F48350EB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  <a:t>Research Question</a:t>
            </a:r>
            <a:br>
              <a:rPr lang="en-GB" sz="2400" noProof="0" dirty="0">
                <a:solidFill>
                  <a:srgbClr val="17365C"/>
                </a:solidFill>
                <a:cs typeface="Arial" panose="020B0604020202020204" pitchFamily="34" charset="0"/>
              </a:rPr>
            </a:br>
            <a:endParaRPr lang="en-GB" sz="2700" noProof="0" dirty="0">
              <a:solidFill>
                <a:srgbClr val="17365C"/>
              </a:solidFill>
              <a:cs typeface="Arial" panose="020B0604020202020204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24D1AD-65E5-5819-8B52-13B61A7AC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31</a:t>
            </a:fld>
            <a:r>
              <a:rPr lang="en-GB" sz="700" noProof="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E53DC1-46D2-AD9D-2BD2-6EADA39F5E2B}"/>
              </a:ext>
            </a:extLst>
          </p:cNvPr>
          <p:cNvSpPr txBox="1"/>
          <p:nvPr/>
        </p:nvSpPr>
        <p:spPr>
          <a:xfrm>
            <a:off x="468000" y="1383618"/>
            <a:ext cx="75600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RQ1</a:t>
            </a:r>
            <a:r>
              <a:rPr lang="en-GB" sz="1600" noProof="0" dirty="0">
                <a:solidFill>
                  <a:schemeClr val="tx2"/>
                </a:solidFill>
              </a:rPr>
              <a:t>: What logging practices and challenges do software developers encounter in software development and maintenance?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/>
                </a:solidFill>
              </a:rPr>
              <a:t>Context-dependent logging decision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noProof="0" dirty="0">
                <a:solidFill>
                  <a:schemeClr val="tx2"/>
                </a:solidFill>
              </a:rPr>
              <a:t>Log information selection &amp; cross-component challenges</a:t>
            </a: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RQ2</a:t>
            </a:r>
            <a:r>
              <a:rPr lang="en-GB" sz="1600" noProof="0" dirty="0">
                <a:solidFill>
                  <a:schemeClr val="tx2"/>
                </a:solidFill>
              </a:rPr>
              <a:t>: What logging guidelines are documented in academic literature?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/>
                </a:solidFill>
              </a:rPr>
              <a:t>31 academic publications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/>
                </a:solidFill>
              </a:rPr>
              <a:t>4 dimensions &amp; 17 literature-derived themes</a:t>
            </a: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RQ3</a:t>
            </a:r>
            <a:r>
              <a:rPr lang="en-GB" sz="1600" noProof="0" dirty="0">
                <a:solidFill>
                  <a:schemeClr val="tx2"/>
                </a:solidFill>
              </a:rPr>
              <a:t>: What logging guidelines are documented in open-source repositories?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/>
                </a:solidFill>
              </a:rPr>
              <a:t>2127 canonical guidelines after consolidation</a:t>
            </a:r>
            <a:br>
              <a:rPr lang="en-GB" sz="1600" noProof="0" dirty="0">
                <a:solidFill>
                  <a:schemeClr val="tx2"/>
                </a:solidFill>
              </a:rPr>
            </a:b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RQ4</a:t>
            </a:r>
            <a:r>
              <a:rPr lang="en-GB" sz="1600" noProof="0" dirty="0">
                <a:solidFill>
                  <a:schemeClr val="tx2"/>
                </a:solidFill>
              </a:rPr>
              <a:t>: What themes can be identified within the logging guideline catalogue?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chemeClr val="tx2"/>
                </a:solidFill>
              </a:rPr>
              <a:t>28 themes: 17 deductive &amp; 11 inductive</a:t>
            </a:r>
            <a:endParaRPr lang="en-GB" sz="12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460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3F31F-FC6D-54A5-C034-30D8B2712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6A994EA0-E5E2-65C3-CEE9-BCAEB4C83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365B"/>
                </a:solidFill>
              </a:rPr>
              <a:t>Example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4B22F3-5FC7-53ED-1B00-AB9C675141BF}"/>
              </a:ext>
            </a:extLst>
          </p:cNvPr>
          <p:cNvSpPr txBox="1"/>
          <p:nvPr/>
        </p:nvSpPr>
        <p:spPr>
          <a:xfrm>
            <a:off x="468000" y="1383618"/>
            <a:ext cx="7560000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Search Query: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Query 1 (General guidelines)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Repo: </a:t>
            </a:r>
            <a:r>
              <a:rPr lang="en-GB" sz="1400" dirty="0" err="1">
                <a:solidFill>
                  <a:schemeClr val="tx2"/>
                </a:solidFill>
              </a:rPr>
              <a:t>sveneisenschmidt</a:t>
            </a:r>
            <a:r>
              <a:rPr lang="en-GB" sz="1400" dirty="0">
                <a:solidFill>
                  <a:schemeClr val="tx2"/>
                </a:solidFill>
              </a:rPr>
              <a:t>/n8n-openai-bridge</a:t>
            </a:r>
            <a:endParaRPr lang="en-US" sz="140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“This document describes the logging standards and practices for the n8n OpenAI Bridge application.”</a:t>
            </a:r>
          </a:p>
          <a:p>
            <a:pPr lvl="1"/>
            <a:endParaRPr lang="en-GB" sz="1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 Metadata: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Stars: 124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Commits: 87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Developers: 3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Latest updated: 27/03/26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Created: 10/10/25</a:t>
            </a:r>
          </a:p>
          <a:p>
            <a:pPr lvl="1"/>
            <a:endParaRPr lang="en-GB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951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80404-08E8-A528-71E4-F05493BC3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0C49B100-BA72-1CA4-26AB-7F28B79B3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365B"/>
                </a:solidFill>
              </a:rPr>
              <a:t>Example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8746DA-1BD8-0D32-6F7C-64C5DA6EBDD1}"/>
              </a:ext>
            </a:extLst>
          </p:cNvPr>
          <p:cNvSpPr txBox="1"/>
          <p:nvPr/>
        </p:nvSpPr>
        <p:spPr>
          <a:xfrm>
            <a:off x="468000" y="1383618"/>
            <a:ext cx="75600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XML Tag:</a:t>
            </a:r>
          </a:p>
          <a:p>
            <a:pPr lvl="1"/>
            <a:r>
              <a:rPr lang="en-US" sz="900" dirty="0">
                <a:solidFill>
                  <a:schemeClr val="tx2"/>
                </a:solidFill>
              </a:rPr>
              <a:t>&lt;</a:t>
            </a:r>
            <a:r>
              <a:rPr lang="en-US" sz="900" dirty="0" err="1">
                <a:solidFill>
                  <a:schemeClr val="tx2"/>
                </a:solidFill>
              </a:rPr>
              <a:t>how_to_log</a:t>
            </a:r>
            <a:r>
              <a:rPr lang="en-US" sz="900" dirty="0">
                <a:solidFill>
                  <a:schemeClr val="tx2"/>
                </a:solidFill>
              </a:rPr>
              <a:t>&gt;3. **Never log sensitive data directly**:</a:t>
            </a:r>
          </a:p>
          <a:p>
            <a:pPr lvl="1"/>
            <a:r>
              <a:rPr lang="en-US" sz="900" dirty="0">
                <a:solidFill>
                  <a:schemeClr val="tx2"/>
                </a:solidFill>
              </a:rPr>
              <a:t>   ```</a:t>
            </a:r>
            <a:r>
              <a:rPr lang="en-US" sz="900" dirty="0" err="1">
                <a:solidFill>
                  <a:schemeClr val="tx2"/>
                </a:solidFill>
              </a:rPr>
              <a:t>javascript</a:t>
            </a:r>
            <a:endParaRPr lang="en-US" sz="900" dirty="0">
              <a:solidFill>
                <a:schemeClr val="tx2"/>
              </a:solidFill>
            </a:endParaRPr>
          </a:p>
          <a:p>
            <a:pPr lvl="1"/>
            <a:r>
              <a:rPr lang="en-US" sz="900" dirty="0">
                <a:solidFill>
                  <a:schemeClr val="tx2"/>
                </a:solidFill>
              </a:rPr>
              <a:t>   // Bad</a:t>
            </a:r>
          </a:p>
          <a:p>
            <a:pPr lvl="1"/>
            <a:r>
              <a:rPr lang="en-US" sz="900" dirty="0">
                <a:solidFill>
                  <a:schemeClr val="tx2"/>
                </a:solidFill>
              </a:rPr>
              <a:t>   console.log('Token:', </a:t>
            </a:r>
            <a:r>
              <a:rPr lang="en-US" sz="900" dirty="0" err="1">
                <a:solidFill>
                  <a:schemeClr val="tx2"/>
                </a:solidFill>
              </a:rPr>
              <a:t>bearerToken</a:t>
            </a:r>
            <a:r>
              <a:rPr lang="en-US" sz="900" dirty="0">
                <a:solidFill>
                  <a:schemeClr val="tx2"/>
                </a:solidFill>
              </a:rPr>
              <a:t>);</a:t>
            </a:r>
          </a:p>
          <a:p>
            <a:pPr lvl="1"/>
            <a:r>
              <a:rPr lang="en-US" sz="900" dirty="0">
                <a:solidFill>
                  <a:schemeClr val="tx2"/>
                </a:solidFill>
              </a:rPr>
              <a:t>   </a:t>
            </a:r>
          </a:p>
          <a:p>
            <a:pPr lvl="1"/>
            <a:r>
              <a:rPr lang="en-US" sz="900" dirty="0">
                <a:solidFill>
                  <a:schemeClr val="tx2"/>
                </a:solidFill>
              </a:rPr>
              <a:t>   // Good</a:t>
            </a:r>
          </a:p>
          <a:p>
            <a:pPr lvl="1"/>
            <a:r>
              <a:rPr lang="en-US" sz="900" dirty="0">
                <a:solidFill>
                  <a:schemeClr val="tx2"/>
                </a:solidFill>
              </a:rPr>
              <a:t>   console.log('Headers:', </a:t>
            </a:r>
            <a:r>
              <a:rPr lang="en-US" sz="900" dirty="0" err="1">
                <a:solidFill>
                  <a:schemeClr val="tx2"/>
                </a:solidFill>
              </a:rPr>
              <a:t>maskSensitiveHeaders</a:t>
            </a:r>
            <a:r>
              <a:rPr lang="en-US" sz="900" dirty="0">
                <a:solidFill>
                  <a:schemeClr val="tx2"/>
                </a:solidFill>
              </a:rPr>
              <a:t>(headers));</a:t>
            </a:r>
          </a:p>
          <a:p>
            <a:pPr lvl="1"/>
            <a:r>
              <a:rPr lang="en-US" sz="900" dirty="0">
                <a:solidFill>
                  <a:schemeClr val="tx2"/>
                </a:solidFill>
              </a:rPr>
              <a:t>   ```&lt;/</a:t>
            </a:r>
            <a:r>
              <a:rPr lang="en-US" sz="900" dirty="0" err="1">
                <a:solidFill>
                  <a:schemeClr val="tx2"/>
                </a:solidFill>
              </a:rPr>
              <a:t>how_to_log</a:t>
            </a:r>
            <a:r>
              <a:rPr lang="en-US" sz="900" dirty="0">
                <a:solidFill>
                  <a:schemeClr val="tx2"/>
                </a:solidFill>
              </a:rPr>
              <a:t>&gt;</a:t>
            </a:r>
          </a:p>
          <a:p>
            <a:pPr lvl="1"/>
            <a:endParaRPr lang="en-GB" sz="1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Content Tag: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access tokens · sensitive data · console output</a:t>
            </a:r>
            <a:endParaRPr lang="en-GB" sz="1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b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Normalised Guideline: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Never log sensitive data directly.</a:t>
            </a:r>
            <a:endParaRPr lang="en-GB" sz="1600" b="1" dirty="0">
              <a:solidFill>
                <a:schemeClr val="tx2"/>
              </a:solidFill>
            </a:endParaRPr>
          </a:p>
          <a:p>
            <a:pPr lvl="1"/>
            <a:endParaRPr lang="en-GB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7853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70B69-5567-9039-B0B5-746347E2E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20">
            <a:extLst>
              <a:ext uri="{FF2B5EF4-FFF2-40B4-BE49-F238E27FC236}">
                <a16:creationId xmlns:a16="http://schemas.microsoft.com/office/drawing/2014/main" id="{4655B16C-3600-ECC3-1C80-51E8E68C6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dirty="0">
                <a:solidFill>
                  <a:srgbClr val="0B365B"/>
                </a:solidFill>
              </a:rPr>
              <a:t>Example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DFBAA6-C951-58A2-AFF1-280CBDF831EC}"/>
              </a:ext>
            </a:extLst>
          </p:cNvPr>
          <p:cNvSpPr txBox="1"/>
          <p:nvPr/>
        </p:nvSpPr>
        <p:spPr>
          <a:xfrm>
            <a:off x="468000" y="1383618"/>
            <a:ext cx="7560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Dimensions and Themes: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How to log, Sensitive-data protection (Inductive)</a:t>
            </a:r>
          </a:p>
          <a:p>
            <a:pPr lvl="1"/>
            <a:br>
              <a:rPr lang="en-GB" sz="1600" b="1" dirty="0">
                <a:solidFill>
                  <a:schemeClr val="tx2"/>
                </a:solidFill>
              </a:rPr>
            </a:br>
            <a:endParaRPr lang="en-GB" sz="1600" b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Final Consolidated Guideline (CG-1779):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</a:rPr>
              <a:t>Never log sensitive data directly.</a:t>
            </a:r>
          </a:p>
          <a:p>
            <a:pPr marL="971550" lvl="2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</a:rPr>
              <a:t>Example ER-0207</a:t>
            </a:r>
            <a:endParaRPr lang="en-GB" sz="16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GB" sz="1600" noProof="0" dirty="0">
              <a:solidFill>
                <a:schemeClr val="tx2"/>
              </a:solidFill>
            </a:endParaRPr>
          </a:p>
          <a:p>
            <a:pPr lvl="1"/>
            <a:endParaRPr lang="en-GB" sz="140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7428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E8081-B879-E9A4-ED5E-FAB62A98A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EFA73-C3E5-61F2-E8C0-2AFFA1C6B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noProof="0" dirty="0">
                <a:solidFill>
                  <a:srgbClr val="0B365B"/>
                </a:solidFill>
                <a:latin typeface="Arial"/>
              </a:rPr>
              <a:t>Discussion: Interpretation of Findings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098378-6CB8-E741-E925-973D8A6B0C1A}"/>
              </a:ext>
            </a:extLst>
          </p:cNvPr>
          <p:cNvSpPr txBox="1"/>
          <p:nvPr/>
        </p:nvSpPr>
        <p:spPr>
          <a:xfrm>
            <a:off x="468000" y="1383618"/>
            <a:ext cx="7560000" cy="31854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Developer logging decisions &amp; challenges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B365B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Academic recommendations in collected guidance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B365B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Initial deductive codebook not complete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B365B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Frequency indicates occurrence not guideline quality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B365B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B365B"/>
                </a:solidFill>
              </a:rPr>
              <a:t>Specific guideline meaning preserved beyond themes</a:t>
            </a:r>
            <a:endParaRPr lang="en-GB" sz="1600" dirty="0">
              <a:solidFill>
                <a:srgbClr val="0B365B"/>
              </a:solidFill>
            </a:endParaRPr>
          </a:p>
          <a:p>
            <a:pPr>
              <a:spcAft>
                <a:spcPts val="300"/>
              </a:spcAft>
            </a:pPr>
            <a:endParaRPr lang="en-GB" sz="1600" dirty="0">
              <a:solidFill>
                <a:srgbClr val="0B365B"/>
              </a:solidFill>
            </a:endParaRPr>
          </a:p>
          <a:p>
            <a:pPr>
              <a:spcAft>
                <a:spcPts val="300"/>
              </a:spcAft>
            </a:pPr>
            <a:endParaRPr lang="en-GB" sz="1600" dirty="0">
              <a:solidFill>
                <a:srgbClr val="0B36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004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EB7AA-FD2F-56D2-DE63-802533B6B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B2A00-A448-CCE3-B9AD-9321E74A1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600" noProof="0" dirty="0">
                <a:solidFill>
                  <a:srgbClr val="0B365B"/>
                </a:solidFill>
                <a:latin typeface="Arial"/>
              </a:rPr>
              <a:t>Contributions &amp; Implications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AB16CF-5953-5110-7817-AB212CD83B3A}"/>
              </a:ext>
            </a:extLst>
          </p:cNvPr>
          <p:cNvSpPr txBox="1"/>
          <p:nvPr/>
        </p:nvSpPr>
        <p:spPr>
          <a:xfrm>
            <a:off x="468000" y="1383618"/>
            <a:ext cx="7560000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Empirical observations of developer logging practices</a:t>
            </a:r>
            <a:br>
              <a:rPr lang="en-GB" sz="1600" dirty="0">
                <a:solidFill>
                  <a:srgbClr val="0B365B"/>
                </a:solidFill>
              </a:rPr>
            </a:br>
            <a:endParaRPr lang="en-GB" sz="1600" dirty="0">
              <a:solidFill>
                <a:srgbClr val="0B365B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Academic logging recommendations</a:t>
            </a:r>
            <a:br>
              <a:rPr lang="en-GB" sz="1600" dirty="0">
                <a:solidFill>
                  <a:srgbClr val="0B365B"/>
                </a:solidFill>
              </a:rPr>
            </a:br>
            <a:endParaRPr lang="en-GB" sz="1600" dirty="0">
              <a:solidFill>
                <a:srgbClr val="0B365B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Traceable open-source guideline catalogue &amp; consolidation mapping</a:t>
            </a:r>
            <a:br>
              <a:rPr lang="en-GB" sz="1600" dirty="0">
                <a:solidFill>
                  <a:srgbClr val="0B365B"/>
                </a:solidFill>
              </a:rPr>
            </a:br>
            <a:endParaRPr lang="en-GB" sz="1600" dirty="0">
              <a:solidFill>
                <a:srgbClr val="0B365B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Proposed deductive-inductive codebook (28 themes)</a:t>
            </a:r>
            <a:br>
              <a:rPr lang="en-GB" sz="1600" dirty="0">
                <a:solidFill>
                  <a:srgbClr val="0B365B"/>
                </a:solidFill>
              </a:rPr>
            </a:br>
            <a:endParaRPr lang="en-GB" sz="1600" dirty="0">
              <a:solidFill>
                <a:srgbClr val="0B365B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Preserved source references &amp; 440 rows with examples</a:t>
            </a:r>
            <a:br>
              <a:rPr lang="en-GB" sz="1600" dirty="0">
                <a:solidFill>
                  <a:srgbClr val="0B365B"/>
                </a:solidFill>
              </a:rPr>
            </a:br>
            <a:endParaRPr lang="en-GB" sz="1600" dirty="0">
              <a:solidFill>
                <a:srgbClr val="0B365B"/>
              </a:solidFill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0B365B"/>
                </a:solidFill>
              </a:rPr>
              <a:t>Basis for practical exploration and future semantic retrieval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GB" sz="1600" dirty="0">
              <a:solidFill>
                <a:srgbClr val="0B365B"/>
              </a:solidFill>
            </a:endParaRPr>
          </a:p>
          <a:p>
            <a:pPr>
              <a:spcAft>
                <a:spcPts val="300"/>
              </a:spcAft>
            </a:pPr>
            <a:endParaRPr lang="en-GB" sz="1600" dirty="0">
              <a:solidFill>
                <a:srgbClr val="0B365B"/>
              </a:solidFill>
            </a:endParaRPr>
          </a:p>
          <a:p>
            <a:pPr>
              <a:spcAft>
                <a:spcPts val="300"/>
              </a:spcAft>
            </a:pPr>
            <a:endParaRPr lang="en-GB" sz="1600" dirty="0">
              <a:solidFill>
                <a:srgbClr val="0B365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25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B36FBF-968A-F6FA-8400-E57362916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6833DCC-1117-4B4D-77CC-71FAD3147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pPr lvl="2">
              <a:lnSpc>
                <a:spcPct val="100000"/>
              </a:lnSpc>
              <a:buClr>
                <a:schemeClr val="tx2"/>
              </a:buClr>
              <a:buSzPct val="130000"/>
            </a:pPr>
            <a:r>
              <a:rPr lang="en-GB" sz="2700" noProof="0" dirty="0">
                <a:solidFill>
                  <a:srgbClr val="17365C"/>
                </a:solidFill>
                <a:cs typeface="Arial" panose="020B0604020202020204" pitchFamily="34" charset="0"/>
              </a:rPr>
              <a:t>Threats of Validity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805142-B682-9086-BA05-BD120F6D8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37</a:t>
            </a:fld>
            <a:r>
              <a:rPr lang="en-GB" sz="700" noProof="0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33B85-714B-7AC1-3A1D-12EB5C6C2311}"/>
              </a:ext>
            </a:extLst>
          </p:cNvPr>
          <p:cNvSpPr txBox="1"/>
          <p:nvPr/>
        </p:nvSpPr>
        <p:spPr>
          <a:xfrm>
            <a:off x="468000" y="1383618"/>
            <a:ext cx="75600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Internal Validity: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AI-assisted processing error</a:t>
            </a:r>
            <a:br>
              <a:rPr lang="en-GB" sz="1400" dirty="0">
                <a:solidFill>
                  <a:schemeClr val="tx2"/>
                </a:solidFill>
              </a:rPr>
            </a:br>
            <a:endParaRPr lang="en-GB" sz="140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Classification &amp; consolidation risks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Manual review &amp; source traceability</a:t>
            </a:r>
            <a:br>
              <a:rPr lang="en-GB" sz="1600" dirty="0">
                <a:solidFill>
                  <a:schemeClr val="tx2"/>
                </a:solidFill>
              </a:rPr>
            </a:br>
            <a:endParaRPr lang="en-GB" sz="1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External Validity: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Developer study of one company</a:t>
            </a:r>
            <a:br>
              <a:rPr lang="en-GB" sz="1400" noProof="0" dirty="0">
                <a:solidFill>
                  <a:schemeClr val="tx2"/>
                </a:solidFill>
              </a:rPr>
            </a:br>
            <a:endParaRPr lang="en-GB" sz="1400" noProof="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Bounded GitHub search</a:t>
            </a:r>
            <a:br>
              <a:rPr lang="en-GB" sz="1400" dirty="0">
                <a:solidFill>
                  <a:schemeClr val="tx2"/>
                </a:solidFill>
              </a:rPr>
            </a:br>
            <a:endParaRPr lang="en-GB" sz="140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Limited literature collection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endParaRPr lang="en-GB" sz="1600" noProof="0" dirty="0">
              <a:solidFill>
                <a:schemeClr val="tx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2EC67E-1D98-CBAB-A04A-5A640778BA3C}"/>
              </a:ext>
            </a:extLst>
          </p:cNvPr>
          <p:cNvSpPr txBox="1"/>
          <p:nvPr/>
        </p:nvSpPr>
        <p:spPr>
          <a:xfrm>
            <a:off x="4572000" y="1381122"/>
            <a:ext cx="460851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Construct Validity: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Implicit logging guidance not covered</a:t>
            </a:r>
            <a:br>
              <a:rPr lang="en-GB" sz="1400" dirty="0">
                <a:solidFill>
                  <a:schemeClr val="tx2"/>
                </a:solidFill>
              </a:rPr>
            </a:br>
            <a:endParaRPr lang="en-GB" sz="140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Theme definition &amp; classification boundaries</a:t>
            </a:r>
            <a:br>
              <a:rPr lang="en-GB" sz="1400" dirty="0">
                <a:solidFill>
                  <a:schemeClr val="tx2"/>
                </a:solidFill>
              </a:rPr>
            </a:br>
            <a:endParaRPr lang="en-GB" sz="140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Practices interpretation bias</a:t>
            </a:r>
            <a:br>
              <a:rPr lang="en-GB" sz="1600" dirty="0">
                <a:solidFill>
                  <a:schemeClr val="tx2"/>
                </a:solidFill>
              </a:rPr>
            </a:br>
            <a:endParaRPr lang="en-GB" sz="1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dirty="0">
                <a:solidFill>
                  <a:schemeClr val="tx2"/>
                </a:solidFill>
              </a:rPr>
              <a:t>Conclusion Validity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Partial survey responses</a:t>
            </a:r>
            <a:br>
              <a:rPr lang="en-GB" sz="1400" dirty="0">
                <a:solidFill>
                  <a:schemeClr val="tx2"/>
                </a:solidFill>
              </a:rPr>
            </a:br>
            <a:endParaRPr lang="en-GB" sz="140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Theme frequencies</a:t>
            </a:r>
            <a:br>
              <a:rPr lang="en-GB" sz="1400" dirty="0">
                <a:solidFill>
                  <a:schemeClr val="tx2"/>
                </a:solidFill>
              </a:rPr>
            </a:br>
            <a:endParaRPr lang="en-GB" sz="1400" dirty="0">
              <a:solidFill>
                <a:schemeClr val="tx2"/>
              </a:solidFill>
            </a:endParaRP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Limited observed dataset</a:t>
            </a:r>
            <a:br>
              <a:rPr lang="en-GB" sz="1600" dirty="0">
                <a:solidFill>
                  <a:schemeClr val="tx2"/>
                </a:solidFill>
              </a:rPr>
            </a:br>
            <a:endParaRPr lang="en-GB" sz="16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973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72040-0316-D520-5BD9-6297B43FA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195AD52-0109-1191-DDD0-6E8B4C524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en-GB" noProof="0" dirty="0"/>
              <a:t>Conclusion &amp; Outlook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55CDF3-DA4A-D6DF-F929-ADC8B206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38</a:t>
            </a:fld>
            <a:r>
              <a:rPr lang="en-GB" sz="700" noProof="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7372B-8DAA-046C-6206-29597738B992}"/>
              </a:ext>
            </a:extLst>
          </p:cNvPr>
          <p:cNvSpPr txBox="1"/>
          <p:nvPr/>
        </p:nvSpPr>
        <p:spPr>
          <a:xfrm>
            <a:off x="468000" y="1383618"/>
            <a:ext cx="7560000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Main Contribution: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Collection &amp; structuring of logging guidance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2127 traceable canonical guidelines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28 themes across 4 dimensions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Structured catalogue for guideline exploration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1" noProof="0" dirty="0">
                <a:solidFill>
                  <a:schemeClr val="tx2"/>
                </a:solidFill>
              </a:rPr>
              <a:t>Future work: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chemeClr val="tx2"/>
                </a:solidFill>
              </a:rPr>
              <a:t>Broader industrial &amp; academical evaluation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400" noProof="0" dirty="0">
                <a:solidFill>
                  <a:schemeClr val="tx2"/>
                </a:solidFill>
              </a:rPr>
              <a:t>Further thematic refinement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Evaluation of practical catalogue usefulness</a:t>
            </a:r>
            <a:endParaRPr lang="en-GB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222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7EABB-FEB2-FBB1-4A38-6F1685652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5D61E01-7775-3281-52F1-9C50A3F94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00" y="396000"/>
            <a:ext cx="7560000" cy="468000"/>
          </a:xfrm>
        </p:spPr>
        <p:txBody>
          <a:bodyPr/>
          <a:lstStyle/>
          <a:p>
            <a:r>
              <a:rPr lang="en-GB" noProof="0" dirty="0"/>
              <a:t>Sources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F724DF-3134-576B-8B2A-5EE29E855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4000" y="4840014"/>
            <a:ext cx="252000" cy="108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C8FC03C-C266-4645-ABC5-645062898383}" type="slidenum">
              <a:rPr lang="en-GB" sz="700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39</a:t>
            </a:fld>
            <a:r>
              <a:rPr lang="en-GB" sz="700" noProof="0" dirty="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4D87EB-AC49-C27D-20B1-80B971330A3B}"/>
              </a:ext>
            </a:extLst>
          </p:cNvPr>
          <p:cNvSpPr txBox="1"/>
          <p:nvPr/>
        </p:nvSpPr>
        <p:spPr>
          <a:xfrm>
            <a:off x="468000" y="1383618"/>
            <a:ext cx="7560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All tables and figures are from the thesis</a:t>
            </a:r>
          </a:p>
          <a:p>
            <a:pPr marL="628650" lvl="1" indent="-285750"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chemeClr val="tx2"/>
                </a:solidFill>
              </a:rPr>
              <a:t>https://github.com/Dilsan-M/Mining-and-Structuring-Logging-Guidelines-for-Improving-Log-Analysis</a:t>
            </a:r>
            <a:endParaRPr lang="en-GB" sz="1600" noProof="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Value table in RQ1 are created in PowerPoint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6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noProof="0" dirty="0">
                <a:solidFill>
                  <a:schemeClr val="tx2"/>
                </a:solidFill>
              </a:rPr>
              <a:t>Titlepage picture self-created example </a:t>
            </a:r>
          </a:p>
        </p:txBody>
      </p:sp>
    </p:spTree>
    <p:extLst>
      <p:ext uri="{BB962C8B-B14F-4D97-AF65-F5344CB8AC3E}">
        <p14:creationId xmlns:p14="http://schemas.microsoft.com/office/powerpoint/2010/main" val="2448578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50559D-56DF-CD48-9EA4-E6BB94E14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 hidden="1">
            <a:extLst>
              <a:ext uri="{FF2B5EF4-FFF2-40B4-BE49-F238E27FC236}">
                <a16:creationId xmlns:a16="http://schemas.microsoft.com/office/drawing/2014/main" id="{5A60E015-CEBA-314A-0F7E-61973D522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99" y="-956642"/>
            <a:ext cx="8172000" cy="720000"/>
          </a:xfrm>
        </p:spPr>
        <p:txBody>
          <a:bodyPr/>
          <a:lstStyle/>
          <a:p>
            <a:r>
              <a:rPr lang="en-GB" noProof="0" dirty="0" err="1"/>
              <a:t>Endfolie</a:t>
            </a:r>
            <a:endParaRPr lang="en-GB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793275-069A-E182-AC00-C319E6BA5589}"/>
              </a:ext>
            </a:extLst>
          </p:cNvPr>
          <p:cNvSpPr txBox="1"/>
          <p:nvPr/>
        </p:nvSpPr>
        <p:spPr>
          <a:xfrm>
            <a:off x="0" y="1602254"/>
            <a:ext cx="9144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noProof="0" dirty="0">
                <a:solidFill>
                  <a:schemeClr val="bg1"/>
                </a:solidFill>
              </a:rPr>
              <a:t>Thank you </a:t>
            </a:r>
            <a:br>
              <a:rPr lang="en-GB" sz="4000" noProof="0" dirty="0">
                <a:solidFill>
                  <a:schemeClr val="bg1"/>
                </a:solidFill>
              </a:rPr>
            </a:br>
            <a:r>
              <a:rPr lang="en-GB" sz="4000" noProof="0" dirty="0">
                <a:solidFill>
                  <a:schemeClr val="bg1"/>
                </a:solidFill>
              </a:rPr>
              <a:t>for your </a:t>
            </a:r>
            <a:br>
              <a:rPr lang="en-GB" sz="4000" noProof="0" dirty="0">
                <a:solidFill>
                  <a:schemeClr val="bg1"/>
                </a:solidFill>
              </a:rPr>
            </a:br>
            <a:r>
              <a:rPr lang="en-GB" sz="4000" noProof="0" dirty="0">
                <a:solidFill>
                  <a:schemeClr val="bg1"/>
                </a:solidFill>
              </a:rPr>
              <a:t>attention</a:t>
            </a:r>
          </a:p>
        </p:txBody>
      </p:sp>
    </p:spTree>
    <p:extLst>
      <p:ext uri="{BB962C8B-B14F-4D97-AF65-F5344CB8AC3E}">
        <p14:creationId xmlns:p14="http://schemas.microsoft.com/office/powerpoint/2010/main" val="20278205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79F84-5D7B-4A76-3D7E-938CBC93D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 hidden="1">
            <a:extLst>
              <a:ext uri="{FF2B5EF4-FFF2-40B4-BE49-F238E27FC236}">
                <a16:creationId xmlns:a16="http://schemas.microsoft.com/office/drawing/2014/main" id="{CB7BA0B9-3CA5-09A4-ADC9-75B55677F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99" y="-956642"/>
            <a:ext cx="8172000" cy="720000"/>
          </a:xfrm>
        </p:spPr>
        <p:txBody>
          <a:bodyPr/>
          <a:lstStyle/>
          <a:p>
            <a:r>
              <a:rPr lang="en-GB" noProof="0" dirty="0" err="1"/>
              <a:t>Endfolie</a:t>
            </a:r>
            <a:endParaRPr lang="en-GB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D76FD9-89F1-4EB7-134A-4D9E33220C69}"/>
              </a:ext>
            </a:extLst>
          </p:cNvPr>
          <p:cNvSpPr txBox="1"/>
          <p:nvPr/>
        </p:nvSpPr>
        <p:spPr>
          <a:xfrm>
            <a:off x="0" y="1602254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noProof="0" dirty="0">
                <a:solidFill>
                  <a:schemeClr val="bg1"/>
                </a:solidFill>
              </a:rPr>
              <a:t>Demonstration</a:t>
            </a:r>
          </a:p>
        </p:txBody>
      </p:sp>
    </p:spTree>
    <p:extLst>
      <p:ext uri="{BB962C8B-B14F-4D97-AF65-F5344CB8AC3E}">
        <p14:creationId xmlns:p14="http://schemas.microsoft.com/office/powerpoint/2010/main" val="33980293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D85AC-323B-4E2F-F3F3-974C958A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 hidden="1">
            <a:extLst>
              <a:ext uri="{FF2B5EF4-FFF2-40B4-BE49-F238E27FC236}">
                <a16:creationId xmlns:a16="http://schemas.microsoft.com/office/drawing/2014/main" id="{7C28A9EF-6D89-40E7-45C7-CD1E3A84F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99" y="-956642"/>
            <a:ext cx="8172000" cy="720000"/>
          </a:xfrm>
        </p:spPr>
        <p:txBody>
          <a:bodyPr/>
          <a:lstStyle/>
          <a:p>
            <a:r>
              <a:rPr lang="en-GB" noProof="0" dirty="0" err="1"/>
              <a:t>Endfolie</a:t>
            </a:r>
            <a:endParaRPr lang="en-GB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DD8642-FEA7-EF38-E33B-F189C50B1BBE}"/>
              </a:ext>
            </a:extLst>
          </p:cNvPr>
          <p:cNvSpPr txBox="1"/>
          <p:nvPr/>
        </p:nvSpPr>
        <p:spPr>
          <a:xfrm>
            <a:off x="0" y="2217807"/>
            <a:ext cx="9144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noProof="0" dirty="0">
                <a:solidFill>
                  <a:schemeClr val="bg1"/>
                </a:solidFill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23887707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Logo der RUB">
            <a:extLst>
              <a:ext uri="{FF2B5EF4-FFF2-40B4-BE49-F238E27FC236}">
                <a16:creationId xmlns:a16="http://schemas.microsoft.com/office/drawing/2014/main" id="{80003CB7-2083-C803-7547-BDE78423C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1347" y="2090831"/>
            <a:ext cx="3601305" cy="961839"/>
          </a:xfrm>
          <a:prstGeom prst="rect">
            <a:avLst/>
          </a:prstGeom>
        </p:spPr>
      </p:pic>
      <p:sp>
        <p:nvSpPr>
          <p:cNvPr id="3" name="Titel 2" hidden="1">
            <a:extLst>
              <a:ext uri="{FF2B5EF4-FFF2-40B4-BE49-F238E27FC236}">
                <a16:creationId xmlns:a16="http://schemas.microsoft.com/office/drawing/2014/main" id="{37C5D7C1-9B04-BE56-E202-2703CC179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999" y="-956642"/>
            <a:ext cx="8172000" cy="720000"/>
          </a:xfrm>
        </p:spPr>
        <p:txBody>
          <a:bodyPr/>
          <a:lstStyle/>
          <a:p>
            <a:r>
              <a:rPr lang="en-GB" noProof="0" dirty="0" err="1"/>
              <a:t>Endfolie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73428927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 Master RUB">
  <a:themeElements>
    <a:clrScheme name="RUB">
      <a:dk1>
        <a:sysClr val="windowText" lastClr="000000"/>
      </a:dk1>
      <a:lt1>
        <a:sysClr val="window" lastClr="FFFFFF"/>
      </a:lt1>
      <a:dk2>
        <a:srgbClr val="003560"/>
      </a:dk2>
      <a:lt2>
        <a:srgbClr val="8DAE10"/>
      </a:lt2>
      <a:accent1>
        <a:srgbClr val="FFCC00"/>
      </a:accent1>
      <a:accent2>
        <a:srgbClr val="EE7203"/>
      </a:accent2>
      <a:accent3>
        <a:srgbClr val="E6332A"/>
      </a:accent3>
      <a:accent4>
        <a:srgbClr val="B71E3F"/>
      </a:accent4>
      <a:accent5>
        <a:srgbClr val="9C5516"/>
      </a:accent5>
      <a:accent6>
        <a:srgbClr val="59211C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bg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PT_RUB_03a.potx" id="{C867D821-36E8-4CDA-B68D-4949E463F39D}" vid="{F84F8B3F-9528-42A9-B5AE-3004D5414502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9d8d65d-e4fa-4cce-b598-03a8988d7265}" enabled="1" method="Privileged" siteId="{9ceb45d9-8994-49de-a178-bcc598fec3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RUB-Präsentation-16zu9</Template>
  <TotalTime>5265</TotalTime>
  <Words>1645</Words>
  <Application>Microsoft Office PowerPoint</Application>
  <PresentationFormat>On-screen Show (16:9)</PresentationFormat>
  <Paragraphs>459</Paragraphs>
  <Slides>43</Slides>
  <Notes>8</Notes>
  <HiddenSlides>11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Calibri</vt:lpstr>
      <vt:lpstr>Wingdings</vt:lpstr>
      <vt:lpstr>PowerPoint Master RUB</vt:lpstr>
      <vt:lpstr>MINING AND STRUCTURING LOGGING GUIDELINES FOR IMPROVING LOG ANALYSIS</vt:lpstr>
      <vt:lpstr>Table of content</vt:lpstr>
      <vt:lpstr>Motivation</vt:lpstr>
      <vt:lpstr>Research Problem</vt:lpstr>
      <vt:lpstr>Research Question </vt:lpstr>
      <vt:lpstr>Research Design</vt:lpstr>
      <vt:lpstr>Research Design</vt:lpstr>
      <vt:lpstr>Methodology: Developer Study (RQ1)</vt:lpstr>
      <vt:lpstr>Methodology: Academic Literature Collection (RQ2)</vt:lpstr>
      <vt:lpstr>Methodology: Open-Source Collection &amp; Extraction(RQ3)</vt:lpstr>
      <vt:lpstr>Methodology: Thematic Classification (RQ4)</vt:lpstr>
      <vt:lpstr>Methodology: Validation</vt:lpstr>
      <vt:lpstr>Research Results</vt:lpstr>
      <vt:lpstr>Logging Implementation</vt:lpstr>
      <vt:lpstr>Logging Implementation</vt:lpstr>
      <vt:lpstr>Log Analysis</vt:lpstr>
      <vt:lpstr>Log Analysis</vt:lpstr>
      <vt:lpstr>Fault Localisation</vt:lpstr>
      <vt:lpstr>Fault Localisation</vt:lpstr>
      <vt:lpstr>Results: Developer Practices &amp; Challenges (RQ1)</vt:lpstr>
      <vt:lpstr>Results: Logging Guidelines in Academic Literature (RQ2)</vt:lpstr>
      <vt:lpstr>Literature-Derived Classification (RQ2)</vt:lpstr>
      <vt:lpstr>GitHub Search Strategy (RQ3)</vt:lpstr>
      <vt:lpstr>Open-Source Repository Collection (RQ3)</vt:lpstr>
      <vt:lpstr>Repository Collection (RQ3)</vt:lpstr>
      <vt:lpstr>Guideline Extraction &amp; Normalisation (RQ3)</vt:lpstr>
      <vt:lpstr>Deductive-Inductive Thematic Classification (RQ4)</vt:lpstr>
      <vt:lpstr>Thematic Catalogue Dimension Distribution (RQ4)</vt:lpstr>
      <vt:lpstr>Thematic Catalogue Dimension Distribution (RQ4)</vt:lpstr>
      <vt:lpstr>Final Thematic Findings (RQ4)</vt:lpstr>
      <vt:lpstr>Research Question </vt:lpstr>
      <vt:lpstr>Example</vt:lpstr>
      <vt:lpstr>Example</vt:lpstr>
      <vt:lpstr>Example</vt:lpstr>
      <vt:lpstr>Discussion: Interpretation of Findings</vt:lpstr>
      <vt:lpstr>Contributions &amp; Implications</vt:lpstr>
      <vt:lpstr>Threats of Validity</vt:lpstr>
      <vt:lpstr>Conclusion &amp; Outlook</vt:lpstr>
      <vt:lpstr>Sources</vt:lpstr>
      <vt:lpstr>Endfolie</vt:lpstr>
      <vt:lpstr>Endfolie</vt:lpstr>
      <vt:lpstr>Endfolie</vt:lpstr>
      <vt:lpstr>Endfolie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RUB_Zahlen-Daten-Fakten</dc:title>
  <dc:creator>Dezernat Hochschulkommunikation</dc:creator>
  <cp:lastModifiedBy>Dilsan Mahadeva</cp:lastModifiedBy>
  <cp:revision>316</cp:revision>
  <dcterms:created xsi:type="dcterms:W3CDTF">2018-07-02T13:45:44Z</dcterms:created>
  <dcterms:modified xsi:type="dcterms:W3CDTF">2026-10-14T10:31:35Z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PowerPoint Master RUB:5</vt:lpwstr>
  </property>
  <property fmtid="{D5CDD505-2E9C-101B-9397-08002B2CF9AE}" pid="3" name="ClassificationContentMarkingFooterText">
    <vt:lpwstr>SITA - Unrestricted</vt:lpwstr>
  </property>
</Properties>
</file>